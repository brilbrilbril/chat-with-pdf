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14" r:id="rId2"/>
  </p:sldMasterIdLst>
  <p:notesMasterIdLst>
    <p:notesMasterId r:id="rId23"/>
  </p:notesMasterIdLst>
  <p:handoutMasterIdLst>
    <p:handoutMasterId r:id="rId24"/>
  </p:handoutMasterIdLst>
  <p:sldIdLst>
    <p:sldId id="256" r:id="rId3"/>
    <p:sldId id="324" r:id="rId4"/>
    <p:sldId id="342" r:id="rId5"/>
    <p:sldId id="325" r:id="rId6"/>
    <p:sldId id="343" r:id="rId7"/>
    <p:sldId id="344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5" r:id="rId17"/>
    <p:sldId id="336" r:id="rId18"/>
    <p:sldId id="337" r:id="rId19"/>
    <p:sldId id="339" r:id="rId20"/>
    <p:sldId id="341" r:id="rId21"/>
    <p:sldId id="306" r:id="rId22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85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4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F733457-FA17-41BE-B208-D02D9617456E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624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Third level</a:t>
            </a:r>
          </a:p>
          <a:p>
            <a:pPr lvl="2"/>
            <a:endParaRPr lang="en-US" dirty="0" smtClean="0"/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  <a:p>
            <a:pPr lvl="4"/>
            <a:r>
              <a:rPr lang="en-US" dirty="0" smtClean="0"/>
              <a:t>Fifth level</a:t>
            </a:r>
          </a:p>
          <a:p>
            <a:pPr lvl="4"/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CIG4E3</a:t>
            </a:r>
            <a:r>
              <a:rPr lang="en-US" dirty="0" smtClean="0"/>
              <a:t> / </a:t>
            </a:r>
            <a:r>
              <a:rPr lang="en-US" dirty="0" err="1" smtClean="0"/>
              <a:t>Pengolahan</a:t>
            </a:r>
            <a:r>
              <a:rPr lang="en-US" dirty="0" smtClean="0"/>
              <a:t> Citra Digital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1881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C65E9-A510-451F-84FC-30A3665B407A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CIG4E3</a:t>
            </a:r>
            <a:r>
              <a:rPr lang="en-US" dirty="0" smtClean="0"/>
              <a:t> / </a:t>
            </a:r>
            <a:r>
              <a:rPr lang="en-US" dirty="0" err="1" smtClean="0"/>
              <a:t>Pengolahan</a:t>
            </a:r>
            <a:r>
              <a:rPr lang="en-US" dirty="0" smtClean="0"/>
              <a:t> Citra Digital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451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66C19-E79C-42A4-9827-7A443C35AD68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CIG4E3</a:t>
            </a:r>
            <a:r>
              <a:rPr lang="en-US" dirty="0" smtClean="0"/>
              <a:t> / </a:t>
            </a:r>
            <a:r>
              <a:rPr lang="en-US" dirty="0" err="1" smtClean="0"/>
              <a:t>Pengolahan</a:t>
            </a:r>
            <a:r>
              <a:rPr lang="en-US" dirty="0" smtClean="0"/>
              <a:t> Citra Digital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9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6889" y="1495792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4703762" y="1495792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285620"/>
            <a:ext cx="4044950" cy="3726243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285620"/>
            <a:ext cx="4044950" cy="3726243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3D355-11B9-4014-9309-B829F2CC5155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CIG4E3</a:t>
            </a:r>
            <a:r>
              <a:rPr lang="en-US" dirty="0" smtClean="0"/>
              <a:t> / </a:t>
            </a:r>
            <a:r>
              <a:rPr lang="en-US" dirty="0" err="1" smtClean="0"/>
              <a:t>Pengolahan</a:t>
            </a:r>
            <a:r>
              <a:rPr lang="en-US" dirty="0" smtClean="0"/>
              <a:t> Citra Digital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05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7B635-C229-47DA-ADB0-0567CF44953F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CIG4E3</a:t>
            </a:r>
            <a:r>
              <a:rPr lang="en-US" dirty="0" smtClean="0"/>
              <a:t> / </a:t>
            </a:r>
            <a:r>
              <a:rPr lang="en-US" dirty="0" err="1" smtClean="0"/>
              <a:t>Pengolahan</a:t>
            </a:r>
            <a:r>
              <a:rPr lang="en-US" dirty="0" smtClean="0"/>
              <a:t> Citra Digital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98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/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1"/>
          <p:cNvSpPr>
            <a:spLocks noGrp="1"/>
          </p:cNvSpPr>
          <p:nvPr>
            <p:ph type="sldNum" sz="quarter" idx="23"/>
          </p:nvPr>
        </p:nvSpPr>
        <p:spPr>
          <a:xfrm>
            <a:off x="389908" y="6451886"/>
            <a:ext cx="35877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24"/>
          </p:nvPr>
        </p:nvSpPr>
        <p:spPr>
          <a:xfrm>
            <a:off x="810596" y="6451886"/>
            <a:ext cx="16430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29B02F-445B-4F7A-9C3F-A6A96193E664}" type="datetime1">
              <a:rPr lang="en-US" smtClean="0"/>
              <a:t>9/13/2021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725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1DBC4B-18FA-4641-AED3-09167062A95C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097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7D54C-61CE-1041-9449-8583DE2630BB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97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16975-30F2-B74D-B90F-E83C4C9562E7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92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CA678-D006-7B41-A446-6998EA1314C2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06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1F2DA-4C0E-AF48-AAE7-6B5FD0673F17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51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3548A-BD02-5246-9AB8-6847FF416924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248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/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730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5718937-EE2A-4AA3-9B33-206539CB2F71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0"/>
          <p:cNvSpPr txBox="1">
            <a:spLocks/>
          </p:cNvSpPr>
          <p:nvPr userDrawn="1"/>
        </p:nvSpPr>
        <p:spPr>
          <a:xfrm>
            <a:off x="5418163" y="6451600"/>
            <a:ext cx="3315778" cy="365125"/>
          </a:xfrm>
          <a:prstGeom prst="rect">
            <a:avLst/>
          </a:prstGeom>
        </p:spPr>
        <p:txBody>
          <a:bodyPr anchor="ctr"/>
          <a:lstStyle>
            <a:lvl1pPr marL="0" indent="0" algn="r" defTabSz="457200" rtl="0" eaLnBrk="1" fontAlgn="base" hangingPunct="1">
              <a:spcBef>
                <a:spcPts val="0"/>
              </a:spcBef>
              <a:spcAft>
                <a:spcPct val="0"/>
              </a:spcAft>
              <a:buSzPct val="135000"/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CIG4E3 / Pengolahan Citra Digital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9pPr>
    </p:titleStyle>
    <p:bodyStyle>
      <a:lvl1pPr marL="346075" indent="-346075" algn="l" defTabSz="457200" rtl="0" eaLnBrk="1" fontAlgn="base" hangingPunct="1">
        <a:spcBef>
          <a:spcPts val="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93725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22325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50925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595959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233488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49DE922-2F34-1241-8A40-1B6D2996FA4E}" type="datetime1">
              <a:rPr lang="en-US" smtClean="0"/>
              <a:pPr>
                <a:defRPr/>
              </a:pPr>
              <a:t>9/13/2021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0"/>
          <p:cNvSpPr txBox="1">
            <a:spLocks/>
          </p:cNvSpPr>
          <p:nvPr userDrawn="1"/>
        </p:nvSpPr>
        <p:spPr>
          <a:xfrm>
            <a:off x="5418163" y="6451600"/>
            <a:ext cx="3315778" cy="365125"/>
          </a:xfrm>
          <a:prstGeom prst="rect">
            <a:avLst/>
          </a:prstGeom>
        </p:spPr>
        <p:txBody>
          <a:bodyPr anchor="ctr"/>
          <a:lstStyle>
            <a:lvl1pPr marL="0" indent="0" algn="r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FontTx/>
              <a:buNone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050" kern="1200">
                <a:solidFill>
                  <a:schemeClr val="bg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Kode dan Nama mata 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9pPr>
    </p:titleStyle>
    <p:bodyStyle>
      <a:lvl1pPr marL="346075" indent="-346075" algn="l" defTabSz="457200" rtl="0" eaLnBrk="1" fontAlgn="base" hangingPunct="1">
        <a:spcBef>
          <a:spcPts val="6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93725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22325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50925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595959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233488" indent="-182563" algn="l" defTabSz="457200" rtl="0" eaLnBrk="1" fontAlgn="base" hangingPunct="1">
        <a:spcBef>
          <a:spcPts val="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CII4F3 </a:t>
            </a:r>
            <a:r>
              <a:rPr lang="en-US" dirty="0"/>
              <a:t>/ </a:t>
            </a:r>
            <a:r>
              <a:rPr lang="en-US" dirty="0" smtClean="0"/>
              <a:t>Digital Image Processing</a:t>
            </a:r>
            <a:br>
              <a:rPr lang="en-US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Fidelity Criteria</a:t>
            </a:r>
            <a:br>
              <a:rPr lang="en-US" sz="2400" dirty="0"/>
            </a:br>
            <a:endParaRPr lang="en-US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Bedy</a:t>
            </a:r>
            <a:r>
              <a:rPr lang="en-US" dirty="0" smtClean="0"/>
              <a:t> </a:t>
            </a:r>
            <a:r>
              <a:rPr lang="en-US" dirty="0" err="1" smtClean="0"/>
              <a:t>Purnama</a:t>
            </a:r>
            <a:r>
              <a:rPr lang="en-US" dirty="0" smtClean="0"/>
              <a:t>, </a:t>
            </a:r>
            <a:r>
              <a:rPr lang="en-US" dirty="0" err="1" smtClean="0"/>
              <a:t>Wikky</a:t>
            </a:r>
            <a:r>
              <a:rPr lang="en-US" dirty="0" smtClean="0"/>
              <a:t> </a:t>
            </a:r>
            <a:r>
              <a:rPr lang="en-US" dirty="0" err="1" smtClean="0"/>
              <a:t>Fawwaz</a:t>
            </a:r>
            <a:r>
              <a:rPr lang="en-US" dirty="0" smtClean="0"/>
              <a:t> Al Maki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Intelligent Computing and Multimedia (</a:t>
            </a:r>
            <a:r>
              <a:rPr lang="en-US" dirty="0" err="1" smtClean="0"/>
              <a:t>ICM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6D67E48-2869-4B89-BAFE-523ADB9239A8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29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Digital image processing is usually employed to obtain an image that meets user specification</a:t>
            </a:r>
          </a:p>
          <a:p>
            <a:endParaRPr lang="en-US" dirty="0" smtClean="0"/>
          </a:p>
          <a:p>
            <a:r>
              <a:rPr lang="en-US" dirty="0" smtClean="0"/>
              <a:t>It is difficult to measure some digital image processing algorithms objectively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2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Fidelity : The degree of exactness with which something is copied or reproduced</a:t>
            </a:r>
          </a:p>
          <a:p>
            <a:endParaRPr lang="en-US" dirty="0"/>
          </a:p>
          <a:p>
            <a:r>
              <a:rPr lang="en-US" dirty="0" smtClean="0"/>
              <a:t>We need to define image fidelity criteria :</a:t>
            </a:r>
          </a:p>
          <a:p>
            <a:pPr marL="638175" indent="-298450"/>
            <a:r>
              <a:rPr lang="en-US" dirty="0" smtClean="0"/>
              <a:t>To measure image quality</a:t>
            </a:r>
          </a:p>
          <a:p>
            <a:pPr marL="638175" indent="-298450"/>
            <a:r>
              <a:rPr lang="en-US" dirty="0" smtClean="0"/>
              <a:t>To determine exactly what information is important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</a:t>
            </a:r>
            <a:r>
              <a:rPr lang="en-US" dirty="0" smtClean="0"/>
              <a:t>Criteria #2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3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We need a mechanism so that we can measure the performance of digital image processing techniques</a:t>
            </a:r>
          </a:p>
          <a:p>
            <a:endParaRPr lang="en-US" dirty="0" smtClean="0"/>
          </a:p>
          <a:p>
            <a:r>
              <a:rPr lang="en-US" dirty="0" smtClean="0"/>
              <a:t>The measurement depends on the process and the purpose of image processing</a:t>
            </a:r>
          </a:p>
          <a:p>
            <a:pPr lvl="2"/>
            <a:r>
              <a:rPr lang="en-US" dirty="0" smtClean="0"/>
              <a:t>Noise </a:t>
            </a:r>
            <a:r>
              <a:rPr lang="en-US" dirty="0"/>
              <a:t>Filtering =&gt; </a:t>
            </a:r>
            <a:r>
              <a:rPr lang="en-US" dirty="0" smtClean="0"/>
              <a:t>Removing noise</a:t>
            </a:r>
            <a:endParaRPr lang="en-US" dirty="0"/>
          </a:p>
          <a:p>
            <a:pPr lvl="2"/>
            <a:r>
              <a:rPr lang="en-US" dirty="0"/>
              <a:t>Image Compression =&gt; </a:t>
            </a:r>
            <a:r>
              <a:rPr lang="en-US" dirty="0" smtClean="0"/>
              <a:t>Reducing the file size as well as maintaining image quality</a:t>
            </a:r>
            <a:endParaRPr lang="en-US" dirty="0"/>
          </a:p>
          <a:p>
            <a:pPr lvl="2"/>
            <a:r>
              <a:rPr lang="en-US" dirty="0" smtClean="0"/>
              <a:t>Edge detection =&gt; Creating an edge image</a:t>
            </a: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5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2426396"/>
            <a:ext cx="8326438" cy="4025490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 smtClean="0"/>
              <a:t>There are wo types of fidelity used in image processing:</a:t>
            </a:r>
          </a:p>
          <a:p>
            <a:pPr marL="0" indent="0">
              <a:buNone/>
            </a:pPr>
            <a:endParaRPr lang="en-US" sz="3600" dirty="0" smtClean="0"/>
          </a:p>
          <a:p>
            <a:pPr marL="404812" indent="0">
              <a:buNone/>
            </a:pPr>
            <a:r>
              <a:rPr lang="en-US" sz="3600" dirty="0" smtClean="0"/>
              <a:t>1. Objective fidelity</a:t>
            </a:r>
          </a:p>
          <a:p>
            <a:pPr marL="404812" indent="0">
              <a:buNone/>
            </a:pPr>
            <a:r>
              <a:rPr lang="en-US" sz="3600" dirty="0" smtClean="0"/>
              <a:t>2. Subjective fidelity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Types of Fidelity Criteria</a:t>
            </a:r>
            <a:endParaRPr lang="en-US" sz="40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65760" y="2009550"/>
                <a:ext cx="8326438" cy="4442050"/>
              </a:xfrm>
            </p:spPr>
            <p:txBody>
              <a:bodyPr/>
              <a:lstStyle/>
              <a:p>
                <a:pPr algn="just"/>
                <a:r>
                  <a:rPr lang="en-US" sz="2000" dirty="0" smtClean="0"/>
                  <a:t>When the level of information loss can expressed as a function of the original image (input image) and the compressed and subsequently decompressed output image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 smtClean="0"/>
                  <a:t>denote an estimate approximation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that results from compressing and subsequently decompressing the input. For any value of x and y, the error e(x, y) between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)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can defined as</a:t>
                </a:r>
              </a:p>
              <a:p>
                <a:pPr marL="0" indent="0" algn="just">
                  <a:buNone/>
                </a:pPr>
                <a:r>
                  <a:rPr lang="en-US" sz="2000" dirty="0" smtClean="0"/>
                  <a:t>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 smtClean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-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:r>
                  <a:rPr lang="en-US" sz="2000" dirty="0" smtClean="0"/>
                  <a:t>Therefore, the total error between2 images is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65760" y="2009550"/>
                <a:ext cx="8326438" cy="4442050"/>
              </a:xfrm>
              <a:blipFill rotWithShape="0">
                <a:blip r:embed="rId2"/>
                <a:stretch>
                  <a:fillRect t="-824" r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Fidelity Criteria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1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In order to measure the performance of noise filtering, we implement the following scenario: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Noise </a:t>
            </a:r>
            <a:r>
              <a:rPr lang="en-US" dirty="0"/>
              <a:t>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357563"/>
            <a:ext cx="719772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61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It is assumed that we have the original image (a clear image without noise</a:t>
            </a:r>
          </a:p>
          <a:p>
            <a:endParaRPr lang="en-US" dirty="0"/>
          </a:p>
          <a:p>
            <a:r>
              <a:rPr lang="en-US" dirty="0" smtClean="0"/>
              <a:t>There are some objective measurement parameters which are often used : MSE and SNR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Noise </a:t>
            </a:r>
            <a:r>
              <a:rPr lang="en-US" dirty="0"/>
              <a:t>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Assume</a:t>
            </a:r>
            <a:endParaRPr lang="en-US" dirty="0"/>
          </a:p>
          <a:p>
            <a:pPr lvl="1"/>
            <a:r>
              <a:rPr lang="en-US" dirty="0"/>
              <a:t>f(</a:t>
            </a:r>
            <a:r>
              <a:rPr lang="en-US" dirty="0" err="1"/>
              <a:t>x,y</a:t>
            </a:r>
            <a:r>
              <a:rPr lang="en-US" dirty="0"/>
              <a:t>) = </a:t>
            </a:r>
            <a:r>
              <a:rPr lang="en-US" dirty="0" smtClean="0"/>
              <a:t>original image</a:t>
            </a:r>
            <a:endParaRPr lang="en-US" dirty="0"/>
          </a:p>
          <a:p>
            <a:pPr lvl="1"/>
            <a:r>
              <a:rPr lang="en-US" dirty="0"/>
              <a:t>h(</a:t>
            </a:r>
            <a:r>
              <a:rPr lang="en-US" dirty="0" err="1"/>
              <a:t>x,y</a:t>
            </a:r>
            <a:r>
              <a:rPr lang="en-US" dirty="0"/>
              <a:t>) = </a:t>
            </a:r>
            <a:r>
              <a:rPr lang="en-US" dirty="0" smtClean="0"/>
              <a:t>noisy image</a:t>
            </a:r>
            <a:endParaRPr lang="en-US" dirty="0"/>
          </a:p>
          <a:p>
            <a:pPr lvl="1"/>
            <a:r>
              <a:rPr lang="en-US" dirty="0"/>
              <a:t>g(</a:t>
            </a:r>
            <a:r>
              <a:rPr lang="en-US" dirty="0" err="1"/>
              <a:t>x,y</a:t>
            </a:r>
            <a:r>
              <a:rPr lang="en-US" dirty="0"/>
              <a:t>) = </a:t>
            </a:r>
            <a:r>
              <a:rPr lang="en-US" dirty="0" smtClean="0"/>
              <a:t>filtered image</a:t>
            </a:r>
          </a:p>
          <a:p>
            <a:pPr lvl="1"/>
            <a:endParaRPr lang="en-US" dirty="0"/>
          </a:p>
          <a:p>
            <a:r>
              <a:rPr lang="en-US" dirty="0"/>
              <a:t>MSE </a:t>
            </a:r>
            <a:r>
              <a:rPr lang="en-US" dirty="0" smtClean="0"/>
              <a:t>for h(</a:t>
            </a:r>
            <a:r>
              <a:rPr lang="en-US" dirty="0" err="1" smtClean="0"/>
              <a:t>x,y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Noise </a:t>
            </a:r>
            <a:r>
              <a:rPr lang="en-US" dirty="0"/>
              <a:t>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503921"/>
              </p:ext>
            </p:extLst>
          </p:nvPr>
        </p:nvGraphicFramePr>
        <p:xfrm>
          <a:off x="1500188" y="3958698"/>
          <a:ext cx="6831012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3" name="Equation" r:id="rId3" imgW="3276600" imgH="914400" progId="Equation.3">
                  <p:embed/>
                </p:oleObj>
              </mc:Choice>
              <mc:Fallback>
                <p:oleObj name="Equation" r:id="rId3" imgW="32766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3958698"/>
                        <a:ext cx="6831012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891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SNR </a:t>
            </a:r>
            <a:r>
              <a:rPr lang="en-US" dirty="0" smtClean="0"/>
              <a:t>of h(</a:t>
            </a:r>
            <a:r>
              <a:rPr lang="en-US" dirty="0" err="1" smtClean="0"/>
              <a:t>x,y</a:t>
            </a:r>
            <a:r>
              <a:rPr lang="en-US" dirty="0"/>
              <a:t>) </a:t>
            </a:r>
            <a:r>
              <a:rPr lang="en-US" dirty="0" smtClean="0"/>
              <a:t>can be calculated by using the following formula: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PSNR </a:t>
            </a:r>
            <a:r>
              <a:rPr lang="en-US" dirty="0" smtClean="0"/>
              <a:t>of h(</a:t>
            </a:r>
            <a:r>
              <a:rPr lang="en-US" dirty="0" err="1" smtClean="0"/>
              <a:t>x,y</a:t>
            </a:r>
            <a:r>
              <a:rPr lang="en-US" dirty="0"/>
              <a:t>) 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Noise </a:t>
            </a:r>
            <a:r>
              <a:rPr lang="en-US" dirty="0"/>
              <a:t>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195628"/>
              </p:ext>
            </p:extLst>
          </p:nvPr>
        </p:nvGraphicFramePr>
        <p:xfrm>
          <a:off x="1356695" y="2893194"/>
          <a:ext cx="6031530" cy="1321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36" name="Equation" r:id="rId3" imgW="2552700" imgH="558800" progId="Equation.3">
                  <p:embed/>
                </p:oleObj>
              </mc:Choice>
              <mc:Fallback>
                <p:oleObj name="Equation" r:id="rId3" imgW="25527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695" y="2893194"/>
                        <a:ext cx="6031530" cy="1321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225812"/>
              </p:ext>
            </p:extLst>
          </p:nvPr>
        </p:nvGraphicFramePr>
        <p:xfrm>
          <a:off x="2713039" y="5239644"/>
          <a:ext cx="3916362" cy="1003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37" name="Equation" r:id="rId5" imgW="1536033" imgH="393529" progId="Equation.3">
                  <p:embed/>
                </p:oleObj>
              </mc:Choice>
              <mc:Fallback>
                <p:oleObj name="Equation" r:id="rId5" imgW="1536033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9" y="5239644"/>
                        <a:ext cx="3916362" cy="1003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281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We have also subjective measurement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smtClean="0"/>
              <a:t>Subjective measurement :the criteria are determined by human visual observation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As </a:t>
            </a:r>
            <a:r>
              <a:rPr lang="en-US" dirty="0"/>
              <a:t>the criteria are determined by human visual </a:t>
            </a:r>
            <a:r>
              <a:rPr lang="en-US" dirty="0" smtClean="0"/>
              <a:t>observation, the measurement results depend on observer’s visual perception</a:t>
            </a: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In order to obtain valid results, subjective measurement is usually carried out by an expert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Noise </a:t>
            </a:r>
            <a:r>
              <a:rPr lang="en-US" dirty="0"/>
              <a:t>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0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59" y="2009550"/>
            <a:ext cx="8535353" cy="4025490"/>
          </a:xfrm>
        </p:spPr>
        <p:txBody>
          <a:bodyPr/>
          <a:lstStyle/>
          <a:p>
            <a:pPr>
              <a:defRPr/>
            </a:pPr>
            <a:r>
              <a:rPr lang="en-US" sz="2000" dirty="0" smtClean="0"/>
              <a:t>There are some subjective criteria used in image processing :</a:t>
            </a:r>
          </a:p>
          <a:p>
            <a:pPr lvl="1">
              <a:defRPr/>
            </a:pPr>
            <a:r>
              <a:rPr lang="en-US" sz="1800" i="1" dirty="0" smtClean="0"/>
              <a:t>Unusable</a:t>
            </a:r>
            <a:r>
              <a:rPr lang="en-US" sz="1800" dirty="0" smtClean="0"/>
              <a:t>, the quality of the observed image is very poor so that the image can’t be seen clearly.</a:t>
            </a:r>
            <a:r>
              <a:rPr lang="en-US" sz="1800" i="1" dirty="0" smtClean="0"/>
              <a:t> </a:t>
            </a:r>
            <a:endParaRPr lang="en-US" sz="1800" dirty="0" smtClean="0"/>
          </a:p>
          <a:p>
            <a:pPr lvl="1">
              <a:defRPr/>
            </a:pPr>
            <a:r>
              <a:rPr lang="en-US" sz="1800" i="1" dirty="0" smtClean="0"/>
              <a:t>Marginal</a:t>
            </a:r>
            <a:r>
              <a:rPr lang="en-US" sz="1800" dirty="0" smtClean="0"/>
              <a:t>, </a:t>
            </a:r>
            <a:r>
              <a:rPr lang="en-US" sz="1800" dirty="0"/>
              <a:t>the quality of the observed image is </a:t>
            </a:r>
            <a:r>
              <a:rPr lang="en-US" sz="1800" dirty="0" smtClean="0"/>
              <a:t>low so that the image should be repaired. </a:t>
            </a:r>
          </a:p>
          <a:p>
            <a:pPr lvl="1">
              <a:defRPr/>
            </a:pPr>
            <a:r>
              <a:rPr lang="en-US" sz="1800" i="1" dirty="0" smtClean="0"/>
              <a:t>Passable</a:t>
            </a:r>
            <a:r>
              <a:rPr lang="en-US" sz="1800" dirty="0"/>
              <a:t>, </a:t>
            </a:r>
            <a:r>
              <a:rPr lang="en-US" sz="1800" dirty="0" smtClean="0"/>
              <a:t>the </a:t>
            </a:r>
            <a:r>
              <a:rPr lang="en-US" sz="1800" dirty="0"/>
              <a:t>quality of the observed image is </a:t>
            </a:r>
            <a:r>
              <a:rPr lang="en-US" sz="1800" dirty="0" smtClean="0"/>
              <a:t>high and the interference is quite disturbing.</a:t>
            </a:r>
          </a:p>
          <a:p>
            <a:pPr lvl="1">
              <a:defRPr/>
            </a:pPr>
            <a:r>
              <a:rPr lang="en-US" sz="1800" i="1" dirty="0" smtClean="0"/>
              <a:t>Fine</a:t>
            </a:r>
            <a:r>
              <a:rPr lang="en-US" sz="1800" dirty="0"/>
              <a:t>, the quality of the observed image is high </a:t>
            </a:r>
            <a:r>
              <a:rPr lang="en-US" sz="1800" dirty="0" smtClean="0"/>
              <a:t>and </a:t>
            </a:r>
            <a:r>
              <a:rPr lang="en-US" sz="1800" dirty="0"/>
              <a:t>interference is quite disturbing</a:t>
            </a:r>
            <a:r>
              <a:rPr lang="en-US" sz="1800" dirty="0" smtClean="0"/>
              <a:t>.</a:t>
            </a:r>
            <a:endParaRPr lang="en-US" sz="1800" dirty="0"/>
          </a:p>
          <a:p>
            <a:pPr lvl="1">
              <a:defRPr/>
            </a:pPr>
            <a:r>
              <a:rPr lang="en-US" sz="1800" i="1" dirty="0"/>
              <a:t>Excellent</a:t>
            </a:r>
            <a:r>
              <a:rPr lang="en-US" sz="1800" dirty="0"/>
              <a:t>, the quality of the observed image is </a:t>
            </a:r>
            <a:r>
              <a:rPr lang="en-US" sz="1800" dirty="0" smtClean="0"/>
              <a:t>very high </a:t>
            </a:r>
          </a:p>
          <a:p>
            <a:pPr lvl="1">
              <a:defRPr/>
            </a:pPr>
            <a:endParaRPr lang="en-US" sz="1800" dirty="0"/>
          </a:p>
          <a:p>
            <a:pPr>
              <a:defRPr/>
            </a:pPr>
            <a:r>
              <a:rPr lang="en-US" sz="2000" dirty="0" smtClean="0"/>
              <a:t>Subjective criteria is obtained by using some weighs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Noise </a:t>
            </a:r>
            <a:r>
              <a:rPr lang="en-US" dirty="0"/>
              <a:t>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5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Main purposes: Reducing the file size as well as maintaining image quality</a:t>
            </a:r>
          </a:p>
          <a:p>
            <a:endParaRPr lang="en-US" dirty="0" smtClean="0"/>
          </a:p>
          <a:p>
            <a:r>
              <a:rPr lang="en-US" dirty="0" smtClean="0"/>
              <a:t>There is a trade off between them </a:t>
            </a:r>
            <a:endParaRPr lang="en-US" dirty="0"/>
          </a:p>
          <a:p>
            <a:pPr lvl="1"/>
            <a:r>
              <a:rPr lang="en-US" b="1" dirty="0" smtClean="0"/>
              <a:t>Small file size</a:t>
            </a:r>
            <a:r>
              <a:rPr lang="en-US" dirty="0" smtClean="0"/>
              <a:t>, bad image quality</a:t>
            </a:r>
            <a:endParaRPr lang="en-US" dirty="0"/>
          </a:p>
          <a:p>
            <a:pPr lvl="1"/>
            <a:r>
              <a:rPr lang="en-US" dirty="0" smtClean="0"/>
              <a:t>Big file size, </a:t>
            </a:r>
            <a:r>
              <a:rPr lang="en-US" b="1" dirty="0" smtClean="0"/>
              <a:t>good image quality</a:t>
            </a:r>
          </a:p>
          <a:p>
            <a:pPr lvl="1"/>
            <a:endParaRPr lang="en-US" b="1" dirty="0" smtClean="0"/>
          </a:p>
          <a:p>
            <a:r>
              <a:rPr lang="en-US" dirty="0" smtClean="0"/>
              <a:t>Problem: choosing the best solution to the trade off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Image </a:t>
            </a:r>
            <a:r>
              <a:rPr lang="en-US" dirty="0"/>
              <a:t>Compression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6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Usin</a:t>
            </a:r>
            <a:r>
              <a:rPr lang="en-US" dirty="0"/>
              <a:t>g</a:t>
            </a:r>
            <a:r>
              <a:rPr lang="en-US" dirty="0" smtClean="0"/>
              <a:t> compression ratio: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where:</a:t>
            </a:r>
            <a:endParaRPr lang="en-US" dirty="0"/>
          </a:p>
          <a:p>
            <a:pPr lvl="1"/>
            <a:r>
              <a:rPr lang="en-US" dirty="0"/>
              <a:t>D’ = </a:t>
            </a:r>
            <a:r>
              <a:rPr lang="en-US" dirty="0" smtClean="0"/>
              <a:t>the data size before compression</a:t>
            </a:r>
            <a:endParaRPr lang="en-US" dirty="0"/>
          </a:p>
          <a:p>
            <a:pPr lvl="1"/>
            <a:r>
              <a:rPr lang="en-US" dirty="0"/>
              <a:t>D = </a:t>
            </a:r>
            <a:r>
              <a:rPr lang="en-US" dirty="0" smtClean="0"/>
              <a:t>the data size after compression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Image </a:t>
            </a:r>
            <a:r>
              <a:rPr lang="en-US" dirty="0"/>
              <a:t>Compression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928813" y="2928938"/>
          <a:ext cx="3786187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0" name="Equation" r:id="rId3" imgW="1358310" imgH="431613" progId="Equation.3">
                  <p:embed/>
                </p:oleObj>
              </mc:Choice>
              <mc:Fallback>
                <p:oleObj name="Equation" r:id="rId3" imgW="1358310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928938"/>
                        <a:ext cx="3786187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92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measurement is performed for </a:t>
            </a:r>
            <a:r>
              <a:rPr lang="en-US" dirty="0" err="1" smtClean="0"/>
              <a:t>lossy</a:t>
            </a:r>
            <a:r>
              <a:rPr lang="en-US" dirty="0" smtClean="0"/>
              <a:t> compression case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 smtClean="0"/>
              <a:t>Calculating MSE and PSNR</a:t>
            </a:r>
            <a:endParaRPr lang="en-US" dirty="0"/>
          </a:p>
          <a:p>
            <a:pPr lvl="1"/>
            <a:r>
              <a:rPr lang="en-US" dirty="0" smtClean="0"/>
              <a:t>Calculating BER </a:t>
            </a:r>
            <a:r>
              <a:rPr lang="en-US" dirty="0"/>
              <a:t>(bit error rate) </a:t>
            </a:r>
            <a:r>
              <a:rPr lang="en-US" dirty="0" smtClean="0"/>
              <a:t>: number of bits of data which is not similar to the original data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Image </a:t>
            </a:r>
            <a:r>
              <a:rPr lang="en-US" dirty="0"/>
              <a:t>Compression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1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421122"/>
            <a:ext cx="8326438" cy="4025490"/>
          </a:xfrm>
        </p:spPr>
        <p:txBody>
          <a:bodyPr/>
          <a:lstStyle/>
          <a:p>
            <a:r>
              <a:rPr lang="en-US" dirty="0" smtClean="0"/>
              <a:t>For lossless compression case :</a:t>
            </a:r>
          </a:p>
          <a:p>
            <a:pPr marL="628650" indent="-342900"/>
            <a:r>
              <a:rPr lang="en-US" dirty="0" smtClean="0"/>
              <a:t>Execution time</a:t>
            </a:r>
          </a:p>
          <a:p>
            <a:pPr marL="628650" indent="-342900"/>
            <a:r>
              <a:rPr lang="en-US" dirty="0" smtClean="0"/>
              <a:t>Complexity of the algorithm</a:t>
            </a:r>
          </a:p>
          <a:p>
            <a:pPr marL="285750" indent="0">
              <a:buNone/>
            </a:pPr>
            <a:endParaRPr lang="en-US" dirty="0" smtClean="0"/>
          </a:p>
          <a:p>
            <a:r>
              <a:rPr lang="en-US" dirty="0" smtClean="0"/>
              <a:t>Usually, in order to obtain small size of the data, the data compression method use </a:t>
            </a:r>
            <a:r>
              <a:rPr lang="en-US" i="1" dirty="0" smtClean="0"/>
              <a:t>codebook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Image Compression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5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760" y="2201740"/>
            <a:ext cx="8326438" cy="4025490"/>
          </a:xfrm>
        </p:spPr>
        <p:txBody>
          <a:bodyPr/>
          <a:lstStyle/>
          <a:p>
            <a:r>
              <a:rPr lang="en-US" dirty="0" smtClean="0"/>
              <a:t>Edge detection aims at performing segmentation of an image to obtain edge and non edge areas</a:t>
            </a:r>
          </a:p>
          <a:p>
            <a:endParaRPr lang="en-US" dirty="0"/>
          </a:p>
          <a:p>
            <a:r>
              <a:rPr lang="en-US" dirty="0" smtClean="0"/>
              <a:t>Edge definition depends on the threshold used </a:t>
            </a:r>
          </a:p>
          <a:p>
            <a:endParaRPr lang="en-US" dirty="0"/>
          </a:p>
          <a:p>
            <a:r>
              <a:rPr lang="en-US" dirty="0" smtClean="0"/>
              <a:t>The threshold often gives drawbacks in obtaining the edges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</a:t>
            </a:r>
            <a:r>
              <a:rPr lang="en-US" dirty="0" smtClean="0"/>
              <a:t>for Edge Detection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7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07503" y="2201740"/>
            <a:ext cx="8326438" cy="402549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One of the measurements used :  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 smtClean="0"/>
          </a:p>
          <a:p>
            <a:pPr marL="0" indent="0">
              <a:buNone/>
              <a:defRPr/>
            </a:pPr>
            <a:r>
              <a:rPr lang="en-US" dirty="0" smtClean="0"/>
              <a:t>where:</a:t>
            </a:r>
            <a:endParaRPr lang="en-US" dirty="0"/>
          </a:p>
          <a:p>
            <a:pPr lvl="1">
              <a:defRPr/>
            </a:pPr>
            <a:r>
              <a:rPr lang="en-US" dirty="0"/>
              <a:t>B = </a:t>
            </a:r>
            <a:r>
              <a:rPr lang="en-US" dirty="0" smtClean="0"/>
              <a:t>number of true edge pixel </a:t>
            </a:r>
            <a:endParaRPr lang="en-US" dirty="0"/>
          </a:p>
          <a:p>
            <a:pPr lvl="1">
              <a:defRPr/>
            </a:pPr>
            <a:r>
              <a:rPr lang="en-US" dirty="0"/>
              <a:t>S = number of </a:t>
            </a:r>
            <a:r>
              <a:rPr lang="en-US" dirty="0" smtClean="0"/>
              <a:t>false edge </a:t>
            </a:r>
            <a:r>
              <a:rPr lang="en-US" dirty="0"/>
              <a:t>pixel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for Edge Detection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447065"/>
              </p:ext>
            </p:extLst>
          </p:nvPr>
        </p:nvGraphicFramePr>
        <p:xfrm>
          <a:off x="1428750" y="3057526"/>
          <a:ext cx="5900738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7" name="Equation" r:id="rId3" imgW="1930400" imgH="419100" progId="Equation.3">
                  <p:embed/>
                </p:oleObj>
              </mc:Choice>
              <mc:Fallback>
                <p:oleObj name="Equation" r:id="rId3" imgW="19304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057526"/>
                        <a:ext cx="5900738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238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89908" y="2201740"/>
            <a:ext cx="8326438" cy="4025490"/>
          </a:xfrm>
        </p:spPr>
        <p:txBody>
          <a:bodyPr/>
          <a:lstStyle/>
          <a:p>
            <a:r>
              <a:rPr lang="en-US" dirty="0" smtClean="0"/>
              <a:t>Another approach : Edge detection is a classification problem</a:t>
            </a:r>
          </a:p>
          <a:p>
            <a:endParaRPr lang="en-US" dirty="0"/>
          </a:p>
          <a:p>
            <a:r>
              <a:rPr lang="en-US" dirty="0" smtClean="0"/>
              <a:t>We can use metrics in data mining such as precision, recall, etc.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DFD0C0ED-042E-482F-B03B-BC1A76058910}" type="datetime1">
              <a:rPr lang="en-US" smtClean="0"/>
              <a:t>9/13/2021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Fidelity Criteria for Edge Detection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5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C2DA4596-0E95-4845-A51E-381771D71C5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defRPr/>
            </a:pPr>
            <a:fld id="{9039035D-2039-4947-B7AC-1C111E726CE6}" type="datetime1">
              <a:rPr lang="en-US" smtClean="0"/>
              <a:t>9/13/2021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49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4989757ECDC4449AC8CEC11F1765F1" ma:contentTypeVersion="4" ma:contentTypeDescription="Create a new document." ma:contentTypeScope="" ma:versionID="3c25f63edc3fd3c6a2f950330b21be65">
  <xsd:schema xmlns:xsd="http://www.w3.org/2001/XMLSchema" xmlns:xs="http://www.w3.org/2001/XMLSchema" xmlns:p="http://schemas.microsoft.com/office/2006/metadata/properties" xmlns:ns2="854b0d3e-a311-4135-8264-440dcf601c8b" targetNamespace="http://schemas.microsoft.com/office/2006/metadata/properties" ma:root="true" ma:fieldsID="bdee0a4f81c0337f2658552466da8178" ns2:_="">
    <xsd:import namespace="854b0d3e-a311-4135-8264-440dcf601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4b0d3e-a311-4135-8264-440dcf601c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EFE424-37CC-49A2-8677-6FA4FD730C50}"/>
</file>

<file path=customXml/itemProps2.xml><?xml version="1.0" encoding="utf-8"?>
<ds:datastoreItem xmlns:ds="http://schemas.openxmlformats.org/officeDocument/2006/customXml" ds:itemID="{A212F740-0C53-4929-B20A-49E69F058C81}"/>
</file>

<file path=customXml/itemProps3.xml><?xml version="1.0" encoding="utf-8"?>
<ds:datastoreItem xmlns:ds="http://schemas.openxmlformats.org/officeDocument/2006/customXml" ds:itemID="{F98FAE2F-5B20-45F8-9678-C11E133E789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3327</TotalTime>
  <Words>745</Words>
  <Application>Microsoft Office PowerPoint</Application>
  <PresentationFormat>On-screen Show (4:3)</PresentationFormat>
  <Paragraphs>161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ＭＳ Ｐゴシック</vt:lpstr>
      <vt:lpstr>Arial</vt:lpstr>
      <vt:lpstr>Brush Script Std</vt:lpstr>
      <vt:lpstr>Calibri</vt:lpstr>
      <vt:lpstr>Cambria Math</vt:lpstr>
      <vt:lpstr>Lucida Grande</vt:lpstr>
      <vt:lpstr>Verdana</vt:lpstr>
      <vt:lpstr>Wingdings</vt:lpstr>
      <vt:lpstr>template_informatika_slide</vt:lpstr>
      <vt:lpstr>1_template_informatika_slide</vt:lpstr>
      <vt:lpstr>Equation</vt:lpstr>
      <vt:lpstr>CII4F3 / Digital Image Processing  Fidelity Criteria </vt:lpstr>
      <vt:lpstr>Fidelity Criteria</vt:lpstr>
      <vt:lpstr>Fidelity Criteria #2</vt:lpstr>
      <vt:lpstr>Fidelity Criteria</vt:lpstr>
      <vt:lpstr>Types of Fidelity Criteria</vt:lpstr>
      <vt:lpstr>Objective Fidelity Criteria</vt:lpstr>
      <vt:lpstr>Fidelity Criteria for Noise Filtering</vt:lpstr>
      <vt:lpstr>Fidelity Criteria for Noise Filtering</vt:lpstr>
      <vt:lpstr>Fidelity Criteria for Noise Filtering</vt:lpstr>
      <vt:lpstr>Fidelity Criteria for Noise Filtering</vt:lpstr>
      <vt:lpstr>Fidelity Criteria for Noise Filtering</vt:lpstr>
      <vt:lpstr>Fidelity Criteria for Noise Filtering</vt:lpstr>
      <vt:lpstr>Fidelity Criteria for Image Compression</vt:lpstr>
      <vt:lpstr>Fidelity Criteria for Image Compression</vt:lpstr>
      <vt:lpstr>Fidelity Criteria for Image Compression</vt:lpstr>
      <vt:lpstr>Fidelity Criteria for Image Compression</vt:lpstr>
      <vt:lpstr>Fidelity Criteria for Edge Detection </vt:lpstr>
      <vt:lpstr>Fidelity Criteria for Edge Detection </vt:lpstr>
      <vt:lpstr>Fidelity Criteria for Edge Detection </vt:lpstr>
      <vt:lpstr>PowerPoint Presentation</vt:lpstr>
    </vt:vector>
  </TitlesOfParts>
  <Company>IEEE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Bedy Purnama; Wikky Fawwaz Al Maki</dc:creator>
  <cp:lastModifiedBy>Windows User</cp:lastModifiedBy>
  <cp:revision>178</cp:revision>
  <cp:lastPrinted>2020-04-29T06:40:18Z</cp:lastPrinted>
  <dcterms:created xsi:type="dcterms:W3CDTF">2012-11-14T18:53:32Z</dcterms:created>
  <dcterms:modified xsi:type="dcterms:W3CDTF">2021-09-13T08:05:16Z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0x010100564989757ECDC4449AC8CEC11F1765F1</vt:lpwstr>
  </property>
</Properties>
</file>