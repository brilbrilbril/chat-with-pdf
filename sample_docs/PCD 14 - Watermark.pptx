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gs/tag2.xml" ContentType="application/vnd.openxmlformats-officedocument.presentationml.tag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ppt/tags/tag6.xml" ContentType="application/vnd.openxmlformats-officedocument.presentationml.tags+xml"/>
  <Override PartName="/ppt/tags/tag5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1.xml" ContentType="application/vnd.openxmlformats-officedocument.presentationml.tag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34"/>
  </p:notesMasterIdLst>
  <p:handoutMasterIdLst>
    <p:handoutMasterId r:id="rId35"/>
  </p:handoutMasterIdLst>
  <p:sldIdLst>
    <p:sldId id="259" r:id="rId3"/>
    <p:sldId id="262" r:id="rId4"/>
    <p:sldId id="261" r:id="rId5"/>
    <p:sldId id="324" r:id="rId6"/>
    <p:sldId id="281" r:id="rId7"/>
    <p:sldId id="289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298" r:id="rId16"/>
    <p:sldId id="332" r:id="rId17"/>
    <p:sldId id="333" r:id="rId18"/>
    <p:sldId id="334" r:id="rId19"/>
    <p:sldId id="282" r:id="rId20"/>
    <p:sldId id="335" r:id="rId21"/>
    <p:sldId id="336" r:id="rId22"/>
    <p:sldId id="283" r:id="rId23"/>
    <p:sldId id="337" r:id="rId24"/>
    <p:sldId id="338" r:id="rId25"/>
    <p:sldId id="339" r:id="rId26"/>
    <p:sldId id="341" r:id="rId27"/>
    <p:sldId id="342" r:id="rId28"/>
    <p:sldId id="340" r:id="rId29"/>
    <p:sldId id="343" r:id="rId30"/>
    <p:sldId id="344" r:id="rId31"/>
    <p:sldId id="345" r:id="rId32"/>
    <p:sldId id="284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9CC93D-E52E-4D84-901B-11D7331DD495}">
          <p14:sldIdLst>
            <p14:sldId id="259"/>
          </p14:sldIdLst>
        </p14:section>
        <p14:section name="Overview and Objectives" id="{ABA716BF-3A5C-4ADB-94C9-CFEF84EBA240}">
          <p14:sldIdLst>
            <p14:sldId id="262"/>
            <p14:sldId id="261"/>
            <p14:sldId id="324"/>
            <p14:sldId id="281"/>
            <p14:sldId id="289"/>
            <p14:sldId id="325"/>
            <p14:sldId id="326"/>
            <p14:sldId id="327"/>
            <p14:sldId id="328"/>
            <p14:sldId id="329"/>
            <p14:sldId id="330"/>
            <p14:sldId id="331"/>
            <p14:sldId id="298"/>
            <p14:sldId id="332"/>
            <p14:sldId id="333"/>
            <p14:sldId id="334"/>
            <p14:sldId id="282"/>
            <p14:sldId id="335"/>
            <p14:sldId id="336"/>
            <p14:sldId id="283"/>
            <p14:sldId id="337"/>
            <p14:sldId id="338"/>
            <p14:sldId id="339"/>
            <p14:sldId id="341"/>
            <p14:sldId id="342"/>
            <p14:sldId id="340"/>
            <p14:sldId id="343"/>
            <p14:sldId id="344"/>
            <p14:sldId id="345"/>
            <p14:sldId id="284"/>
          </p14:sldIdLst>
        </p14:section>
        <p14:section name="Topic 1" id="{6D9936A3-3945-4757-BC8B-B5C252D8E036}">
          <p14:sldIdLst/>
        </p14:section>
        <p14:section name="Sample Slides for Visuals" id="{BAB3A466-96C9-4230-9978-795378D75699}">
          <p14:sldIdLst/>
        </p14:section>
        <p14:section name="Case Study" id="{8C0305C9-B152-4FBA-A789-FE1976D53990}">
          <p14:sldIdLst/>
        </p14:section>
        <p14:section name="Conclusion and Summary" id="{790CEF5B-569A-4C2F-BED5-750B08C0E5AD}">
          <p14:sldIdLst/>
        </p14:section>
        <p14:section name="Appendix" id="{3F78B471-41DA-46F2-A8E4-97E471896AB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4" autoAdjust="0"/>
    <p:restoredTop sz="95196" autoAdjust="0"/>
  </p:normalViewPr>
  <p:slideViewPr>
    <p:cSldViewPr>
      <p:cViewPr varScale="1">
        <p:scale>
          <a:sx n="67" d="100"/>
          <a:sy n="67" d="100"/>
        </p:scale>
        <p:origin x="14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FEADD9-F67D-41F5-BA4C-3C84956E7F46}" type="doc">
      <dgm:prSet loTypeId="urn:microsoft.com/office/officeart/2005/8/layout/vList5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4EE5CD8-078F-4590-BF9C-A341A294A016}">
      <dgm:prSet phldrT="[Text]" custT="1"/>
      <dgm:spPr/>
      <dgm:t>
        <a:bodyPr/>
        <a:lstStyle/>
        <a:p>
          <a:r>
            <a:rPr lang="en-US" sz="4400" smtClean="0"/>
            <a:t>1</a:t>
          </a:r>
          <a:endParaRPr lang="en-US" sz="4400" dirty="0"/>
        </a:p>
      </dgm:t>
    </dgm:pt>
    <dgm:pt modelId="{BB568D76-3363-43D3-B00C-3359A643216C}" type="parTrans" cxnId="{F40F9561-0D4C-44CF-91EF-A92B1DBDE44B}">
      <dgm:prSet/>
      <dgm:spPr/>
      <dgm:t>
        <a:bodyPr/>
        <a:lstStyle/>
        <a:p>
          <a:endParaRPr lang="en-US" sz="3200"/>
        </a:p>
      </dgm:t>
    </dgm:pt>
    <dgm:pt modelId="{CF9FB981-E6ED-4440-AC98-4E4E2ABA2C55}" type="sibTrans" cxnId="{F40F9561-0D4C-44CF-91EF-A92B1DBDE44B}">
      <dgm:prSet/>
      <dgm:spPr/>
      <dgm:t>
        <a:bodyPr/>
        <a:lstStyle/>
        <a:p>
          <a:endParaRPr lang="en-US" sz="3200"/>
        </a:p>
      </dgm:t>
    </dgm:pt>
    <dgm:pt modelId="{AA046201-5C4D-445E-BF0B-5C6D2B0A1945}">
      <dgm:prSet phldrT="[Text]" custT="1"/>
      <dgm:spPr/>
      <dgm:t>
        <a:bodyPr/>
        <a:lstStyle/>
        <a:p>
          <a:r>
            <a:rPr lang="en-US" sz="4400" smtClean="0"/>
            <a:t>2</a:t>
          </a:r>
          <a:endParaRPr lang="en-US" sz="4400" dirty="0"/>
        </a:p>
      </dgm:t>
    </dgm:pt>
    <dgm:pt modelId="{FE92FC33-5E0F-4302-9E80-A69E8ACDDE56}" type="parTrans" cxnId="{B8AF1086-D7BE-446F-9133-738B599E9A7D}">
      <dgm:prSet/>
      <dgm:spPr/>
      <dgm:t>
        <a:bodyPr/>
        <a:lstStyle/>
        <a:p>
          <a:endParaRPr lang="en-US" sz="3200"/>
        </a:p>
      </dgm:t>
    </dgm:pt>
    <dgm:pt modelId="{40767EFF-7D52-4469-ACEE-7D28E67337E2}" type="sibTrans" cxnId="{B8AF1086-D7BE-446F-9133-738B599E9A7D}">
      <dgm:prSet/>
      <dgm:spPr/>
      <dgm:t>
        <a:bodyPr/>
        <a:lstStyle/>
        <a:p>
          <a:endParaRPr lang="en-US" sz="3200"/>
        </a:p>
      </dgm:t>
    </dgm:pt>
    <dgm:pt modelId="{C59269D0-92A5-481C-BA64-727AFB0DD545}">
      <dgm:prSet phldrT="[Text]" custT="1"/>
      <dgm:spPr/>
      <dgm:t>
        <a:bodyPr/>
        <a:lstStyle/>
        <a:p>
          <a:r>
            <a: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Watermarking</a:t>
          </a:r>
          <a:endParaRPr lang="en-US" sz="3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12CC84D-092F-422A-AA24-A4619DBBB7BE}" type="parTrans" cxnId="{9071FB3B-D26B-4384-BD1A-80C12C62D02C}">
      <dgm:prSet/>
      <dgm:spPr/>
      <dgm:t>
        <a:bodyPr/>
        <a:lstStyle/>
        <a:p>
          <a:endParaRPr lang="en-US" sz="3200"/>
        </a:p>
      </dgm:t>
    </dgm:pt>
    <dgm:pt modelId="{266DE8E8-1339-41C4-B9A7-6148496C7FA9}" type="sibTrans" cxnId="{9071FB3B-D26B-4384-BD1A-80C12C62D02C}">
      <dgm:prSet/>
      <dgm:spPr/>
      <dgm:t>
        <a:bodyPr/>
        <a:lstStyle/>
        <a:p>
          <a:endParaRPr lang="en-US" sz="3200"/>
        </a:p>
      </dgm:t>
    </dgm:pt>
    <dgm:pt modelId="{1E4D3931-0DBD-4211-A24A-6AF364284B1E}">
      <dgm:prSet phldrT="[Text]" custT="1"/>
      <dgm:spPr/>
      <dgm:t>
        <a:bodyPr/>
        <a:lstStyle/>
        <a:p>
          <a:pPr marL="280988" indent="-280988"/>
          <a:r>
            <a:rPr lang="en-US" sz="3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Steganografi</a:t>
          </a:r>
          <a:endParaRPr lang="en-US" sz="3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DAA3D9-7C63-4729-85B0-64C8AF644EEF}" type="sibTrans" cxnId="{63E4D827-0083-4625-9FD6-043D8D32091E}">
      <dgm:prSet/>
      <dgm:spPr/>
      <dgm:t>
        <a:bodyPr/>
        <a:lstStyle/>
        <a:p>
          <a:endParaRPr lang="en-US" sz="3200"/>
        </a:p>
      </dgm:t>
    </dgm:pt>
    <dgm:pt modelId="{FC93695B-FD0E-4353-B1FD-4328F4386DEC}" type="parTrans" cxnId="{63E4D827-0083-4625-9FD6-043D8D32091E}">
      <dgm:prSet/>
      <dgm:spPr/>
      <dgm:t>
        <a:bodyPr/>
        <a:lstStyle/>
        <a:p>
          <a:endParaRPr lang="en-US" sz="3200"/>
        </a:p>
      </dgm:t>
    </dgm:pt>
    <dgm:pt modelId="{AAE7A1E6-6847-453D-B55B-8A82BF138C1D}" type="pres">
      <dgm:prSet presAssocID="{F6FEADD9-F67D-41F5-BA4C-3C84956E7F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4407577-18A2-46E0-8805-2838042EB67A}" type="pres">
      <dgm:prSet presAssocID="{74EE5CD8-078F-4590-BF9C-A341A294A016}" presName="linNode" presStyleCnt="0"/>
      <dgm:spPr/>
      <dgm:t>
        <a:bodyPr/>
        <a:lstStyle/>
        <a:p>
          <a:endParaRPr lang="en-US"/>
        </a:p>
      </dgm:t>
    </dgm:pt>
    <dgm:pt modelId="{7E429971-BC57-430F-BB25-C0574E5E39E3}" type="pres">
      <dgm:prSet presAssocID="{74EE5CD8-078F-4590-BF9C-A341A294A016}" presName="parentText" presStyleLbl="node1" presStyleIdx="0" presStyleCnt="2" custLinFactNeighborY="-15667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54B1729-BC98-42C1-9C6C-D65DCBA4358F}" type="pres">
      <dgm:prSet presAssocID="{74EE5CD8-078F-4590-BF9C-A341A294A016}" presName="descendantText" presStyleLbl="alignAccFollowNode1" presStyleIdx="0" presStyleCnt="2" custScaleX="259632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AB8574CC-D4F2-4555-AEE3-F4EE58B11D03}" type="pres">
      <dgm:prSet presAssocID="{CF9FB981-E6ED-4440-AC98-4E4E2ABA2C55}" presName="sp" presStyleCnt="0"/>
      <dgm:spPr/>
      <dgm:t>
        <a:bodyPr/>
        <a:lstStyle/>
        <a:p>
          <a:endParaRPr lang="en-US"/>
        </a:p>
      </dgm:t>
    </dgm:pt>
    <dgm:pt modelId="{85B8F607-FDD8-476A-ADBE-E1250824F294}" type="pres">
      <dgm:prSet presAssocID="{AA046201-5C4D-445E-BF0B-5C6D2B0A1945}" presName="linNode" presStyleCnt="0"/>
      <dgm:spPr/>
      <dgm:t>
        <a:bodyPr/>
        <a:lstStyle/>
        <a:p>
          <a:endParaRPr lang="en-US"/>
        </a:p>
      </dgm:t>
    </dgm:pt>
    <dgm:pt modelId="{C04276DC-EE64-470A-B8BC-09067B8045FA}" type="pres">
      <dgm:prSet presAssocID="{AA046201-5C4D-445E-BF0B-5C6D2B0A1945}" presName="parentText" presStyleLbl="node1" presStyleIdx="1" presStyleCnt="2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B37A5355-225B-4C6F-AED7-6C620F99EECC}" type="pres">
      <dgm:prSet presAssocID="{AA046201-5C4D-445E-BF0B-5C6D2B0A1945}" presName="descendantText" presStyleLbl="alignAccFollowNode1" presStyleIdx="1" presStyleCnt="2" custScaleX="259632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</dgm:ptLst>
  <dgm:cxnLst>
    <dgm:cxn modelId="{AFF7133D-5E9D-4613-9299-006F9E49301B}" type="presOf" srcId="{AA046201-5C4D-445E-BF0B-5C6D2B0A1945}" destId="{C04276DC-EE64-470A-B8BC-09067B8045FA}" srcOrd="0" destOrd="0" presId="urn:microsoft.com/office/officeart/2005/8/layout/vList5"/>
    <dgm:cxn modelId="{9071FB3B-D26B-4384-BD1A-80C12C62D02C}" srcId="{AA046201-5C4D-445E-BF0B-5C6D2B0A1945}" destId="{C59269D0-92A5-481C-BA64-727AFB0DD545}" srcOrd="0" destOrd="0" parTransId="{312CC84D-092F-422A-AA24-A4619DBBB7BE}" sibTransId="{266DE8E8-1339-41C4-B9A7-6148496C7FA9}"/>
    <dgm:cxn modelId="{B8AF1086-D7BE-446F-9133-738B599E9A7D}" srcId="{F6FEADD9-F67D-41F5-BA4C-3C84956E7F46}" destId="{AA046201-5C4D-445E-BF0B-5C6D2B0A1945}" srcOrd="1" destOrd="0" parTransId="{FE92FC33-5E0F-4302-9E80-A69E8ACDDE56}" sibTransId="{40767EFF-7D52-4469-ACEE-7D28E67337E2}"/>
    <dgm:cxn modelId="{B6416E04-E5DE-46CA-AD27-47EBE280D636}" type="presOf" srcId="{C59269D0-92A5-481C-BA64-727AFB0DD545}" destId="{B37A5355-225B-4C6F-AED7-6C620F99EECC}" srcOrd="0" destOrd="0" presId="urn:microsoft.com/office/officeart/2005/8/layout/vList5"/>
    <dgm:cxn modelId="{DBCA7E61-D822-40A0-A27A-D7E092386A0B}" type="presOf" srcId="{F6FEADD9-F67D-41F5-BA4C-3C84956E7F46}" destId="{AAE7A1E6-6847-453D-B55B-8A82BF138C1D}" srcOrd="0" destOrd="0" presId="urn:microsoft.com/office/officeart/2005/8/layout/vList5"/>
    <dgm:cxn modelId="{F40F9561-0D4C-44CF-91EF-A92B1DBDE44B}" srcId="{F6FEADD9-F67D-41F5-BA4C-3C84956E7F46}" destId="{74EE5CD8-078F-4590-BF9C-A341A294A016}" srcOrd="0" destOrd="0" parTransId="{BB568D76-3363-43D3-B00C-3359A643216C}" sibTransId="{CF9FB981-E6ED-4440-AC98-4E4E2ABA2C55}"/>
    <dgm:cxn modelId="{9A0DCB65-9DCB-4972-9768-1762E4116F3C}" type="presOf" srcId="{74EE5CD8-078F-4590-BF9C-A341A294A016}" destId="{7E429971-BC57-430F-BB25-C0574E5E39E3}" srcOrd="0" destOrd="0" presId="urn:microsoft.com/office/officeart/2005/8/layout/vList5"/>
    <dgm:cxn modelId="{63E4D827-0083-4625-9FD6-043D8D32091E}" srcId="{74EE5CD8-078F-4590-BF9C-A341A294A016}" destId="{1E4D3931-0DBD-4211-A24A-6AF364284B1E}" srcOrd="0" destOrd="0" parTransId="{FC93695B-FD0E-4353-B1FD-4328F4386DEC}" sibTransId="{CADAA3D9-7C63-4729-85B0-64C8AF644EEF}"/>
    <dgm:cxn modelId="{1D12F37E-DF42-400C-B5B5-A8FAF49EC0EC}" type="presOf" srcId="{1E4D3931-0DBD-4211-A24A-6AF364284B1E}" destId="{D54B1729-BC98-42C1-9C6C-D65DCBA4358F}" srcOrd="0" destOrd="0" presId="urn:microsoft.com/office/officeart/2005/8/layout/vList5"/>
    <dgm:cxn modelId="{1E18118B-9778-4714-A249-2B714D5427F7}" type="presParOf" srcId="{AAE7A1E6-6847-453D-B55B-8A82BF138C1D}" destId="{C4407577-18A2-46E0-8805-2838042EB67A}" srcOrd="0" destOrd="0" presId="urn:microsoft.com/office/officeart/2005/8/layout/vList5"/>
    <dgm:cxn modelId="{84152E8A-21A6-4CAF-BC09-47C13F4FFFB8}" type="presParOf" srcId="{C4407577-18A2-46E0-8805-2838042EB67A}" destId="{7E429971-BC57-430F-BB25-C0574E5E39E3}" srcOrd="0" destOrd="0" presId="urn:microsoft.com/office/officeart/2005/8/layout/vList5"/>
    <dgm:cxn modelId="{1D51832F-3B38-483B-8C08-BDD413206841}" type="presParOf" srcId="{C4407577-18A2-46E0-8805-2838042EB67A}" destId="{D54B1729-BC98-42C1-9C6C-D65DCBA4358F}" srcOrd="1" destOrd="0" presId="urn:microsoft.com/office/officeart/2005/8/layout/vList5"/>
    <dgm:cxn modelId="{F2BB24AB-7DB6-4F0F-92D8-664E0F322520}" type="presParOf" srcId="{AAE7A1E6-6847-453D-B55B-8A82BF138C1D}" destId="{AB8574CC-D4F2-4555-AEE3-F4EE58B11D03}" srcOrd="1" destOrd="0" presId="urn:microsoft.com/office/officeart/2005/8/layout/vList5"/>
    <dgm:cxn modelId="{3F47CC38-27AC-4E4E-92A2-FDE046382C80}" type="presParOf" srcId="{AAE7A1E6-6847-453D-B55B-8A82BF138C1D}" destId="{85B8F607-FDD8-476A-ADBE-E1250824F294}" srcOrd="2" destOrd="0" presId="urn:microsoft.com/office/officeart/2005/8/layout/vList5"/>
    <dgm:cxn modelId="{B4BBC5E0-69C0-4FD2-84A6-C47E62DEA28D}" type="presParOf" srcId="{85B8F607-FDD8-476A-ADBE-E1250824F294}" destId="{C04276DC-EE64-470A-B8BC-09067B8045FA}" srcOrd="0" destOrd="0" presId="urn:microsoft.com/office/officeart/2005/8/layout/vList5"/>
    <dgm:cxn modelId="{71B90C6E-E0F2-4EE1-8864-5914AAFA20A7}" type="presParOf" srcId="{85B8F607-FDD8-476A-ADBE-E1250824F294}" destId="{B37A5355-225B-4C6F-AED7-6C620F99EEC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B1729-BC98-42C1-9C6C-D65DCBA4358F}">
      <dsp:nvSpPr>
        <dsp:cNvPr id="0" name=""/>
        <dsp:cNvSpPr/>
      </dsp:nvSpPr>
      <dsp:spPr>
        <a:xfrm rot="5400000">
          <a:off x="2797790" y="-1513898"/>
          <a:ext cx="1585912" cy="501028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0988" lvl="1" indent="-280988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Steganografi</a:t>
          </a:r>
          <a:endParaRPr lang="en-US" sz="3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085603" y="198289"/>
        <a:ext cx="5010287" cy="1585912"/>
      </dsp:txXfrm>
    </dsp:sp>
    <dsp:sp modelId="{7E429971-BC57-430F-BB25-C0574E5E39E3}">
      <dsp:nvSpPr>
        <dsp:cNvPr id="0" name=""/>
        <dsp:cNvSpPr/>
      </dsp:nvSpPr>
      <dsp:spPr>
        <a:xfrm>
          <a:off x="109" y="0"/>
          <a:ext cx="1085492" cy="198239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smtClean="0"/>
            <a:t>1</a:t>
          </a:r>
          <a:endParaRPr lang="en-US" sz="4400" kern="1200" dirty="0"/>
        </a:p>
      </dsp:txBody>
      <dsp:txXfrm>
        <a:off x="53098" y="52989"/>
        <a:ext cx="979514" cy="1876412"/>
      </dsp:txXfrm>
    </dsp:sp>
    <dsp:sp modelId="{B37A5355-225B-4C6F-AED7-6C620F99EECC}">
      <dsp:nvSpPr>
        <dsp:cNvPr id="0" name=""/>
        <dsp:cNvSpPr/>
      </dsp:nvSpPr>
      <dsp:spPr>
        <a:xfrm rot="5400000">
          <a:off x="2797790" y="567611"/>
          <a:ext cx="1585912" cy="5010287"/>
        </a:xfrm>
        <a:prstGeom prst="rect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Watermarking</a:t>
          </a:r>
          <a:endParaRPr lang="en-US" sz="3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085603" y="2279798"/>
        <a:ext cx="5010287" cy="1585912"/>
      </dsp:txXfrm>
    </dsp:sp>
    <dsp:sp modelId="{C04276DC-EE64-470A-B8BC-09067B8045FA}">
      <dsp:nvSpPr>
        <dsp:cNvPr id="0" name=""/>
        <dsp:cNvSpPr/>
      </dsp:nvSpPr>
      <dsp:spPr>
        <a:xfrm>
          <a:off x="109" y="2081559"/>
          <a:ext cx="1085492" cy="1982390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smtClean="0"/>
            <a:t>2</a:t>
          </a:r>
          <a:endParaRPr lang="en-US" sz="4400" kern="1200" dirty="0"/>
        </a:p>
      </dsp:txBody>
      <dsp:txXfrm>
        <a:off x="53098" y="2134548"/>
        <a:ext cx="979514" cy="1876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78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39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template can be used as a starter file for presenting training materials in a group setting.</a:t>
            </a:r>
          </a:p>
          <a:p>
            <a:endParaRPr lang="en-US" dirty="0" smtClean="0"/>
          </a:p>
          <a:p>
            <a:pPr lvl="0"/>
            <a:r>
              <a:rPr lang="en-US" sz="1200" b="1" dirty="0" smtClean="0"/>
              <a:t>Sections</a:t>
            </a:r>
            <a:endParaRPr lang="en-US" sz="1200" b="0" dirty="0" smtClean="0"/>
          </a:p>
          <a:p>
            <a:pPr lvl="0"/>
            <a:r>
              <a:rPr lang="en-US" sz="1200" b="0" dirty="0" smtClean="0"/>
              <a:t>Right-click on a slide to add sections.</a:t>
            </a:r>
            <a:r>
              <a:rPr lang="en-US" sz="1200" b="0" baseline="0" dirty="0" smtClean="0"/>
              <a:t> Sections can help to organize your slides or facilitate collaboration between multiple authors.</a:t>
            </a:r>
            <a:endParaRPr lang="en-US" sz="1200" b="0" dirty="0" smtClean="0"/>
          </a:p>
          <a:p>
            <a:pPr lvl="0"/>
            <a:endParaRPr lang="en-US" sz="1200" b="1" dirty="0" smtClean="0"/>
          </a:p>
          <a:p>
            <a:pPr lvl="0"/>
            <a:r>
              <a:rPr lang="en-US" sz="1200" b="1" dirty="0" smtClean="0"/>
              <a:t>Notes</a:t>
            </a:r>
          </a:p>
          <a:p>
            <a:pPr lvl="0"/>
            <a:r>
              <a:rPr lang="en-US" sz="1200" dirty="0" smtClean="0"/>
              <a:t>Use the Notes section for delivery notes or to provide additional details for the audience.</a:t>
            </a:r>
            <a:r>
              <a:rPr lang="en-US" sz="1200" baseline="0" dirty="0" smtClean="0"/>
              <a:t> View these notes in Presentation View during your presentation. </a:t>
            </a:r>
          </a:p>
          <a:p>
            <a:pPr lvl="0">
              <a:buFontTx/>
              <a:buNone/>
            </a:pPr>
            <a:r>
              <a:rPr lang="en-US" sz="1200" dirty="0" smtClean="0"/>
              <a:t>Keep in mind the font size (important for accessibility, visibility, videotaping, and online production)</a:t>
            </a:r>
          </a:p>
          <a:p>
            <a:pPr lvl="0"/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Coordinated colors </a:t>
            </a:r>
          </a:p>
          <a:p>
            <a:pPr lvl="0">
              <a:buFontTx/>
              <a:buNone/>
            </a:pPr>
            <a:r>
              <a:rPr lang="en-US" sz="1200" dirty="0" smtClean="0"/>
              <a:t>Pay particular attention to the graphs, charts, and text boxes.</a:t>
            </a:r>
            <a:r>
              <a:rPr lang="en-US" sz="1200" baseline="0" dirty="0" smtClean="0"/>
              <a:t> </a:t>
            </a:r>
            <a:endParaRPr lang="en-US" sz="1200" dirty="0" smtClean="0"/>
          </a:p>
          <a:p>
            <a:pPr lvl="0"/>
            <a:r>
              <a:rPr lang="en-US" sz="1200" dirty="0" smtClean="0"/>
              <a:t>Consider that attendees will print in black and white or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 Run a test print to make sure your colors work when printed in pure black and white and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</a:t>
            </a:r>
          </a:p>
          <a:p>
            <a:pPr lvl="0">
              <a:buFontTx/>
              <a:buNone/>
            </a:pPr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Graphics, tables, and graphs</a:t>
            </a:r>
          </a:p>
          <a:p>
            <a:pPr lvl="0"/>
            <a:r>
              <a:rPr lang="en-US" sz="1200" dirty="0" smtClean="0"/>
              <a:t>Keep it simple: If possible, use consistent, non-distracting styles and colors.</a:t>
            </a:r>
          </a:p>
          <a:p>
            <a:pPr lvl="0"/>
            <a:r>
              <a:rPr lang="en-US" sz="1200" dirty="0" smtClean="0"/>
              <a:t>Label all graphs and tables.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95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 spcCol="182880">
            <a:no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dirty="0" smtClean="0"/>
              <a:t>This is another option</a:t>
            </a:r>
            <a:r>
              <a:rPr lang="en-US" sz="1200" baseline="0" dirty="0" smtClean="0"/>
              <a:t> for an Overview slide.</a:t>
            </a:r>
            <a:endParaRPr lang="en-US" sz="1200" dirty="0" smtClean="0"/>
          </a:p>
          <a:p>
            <a:pPr marL="228600" indent="-228600">
              <a:buFont typeface="+mj-lt"/>
              <a:buNone/>
            </a:pPr>
            <a:endParaRPr lang="en-US" sz="1200" dirty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9750" y="503238"/>
            <a:ext cx="3143250" cy="2359025"/>
          </a:xfrm>
        </p:spPr>
      </p:sp>
    </p:spTree>
    <p:extLst>
      <p:ext uri="{BB962C8B-B14F-4D97-AF65-F5344CB8AC3E}">
        <p14:creationId xmlns:p14="http://schemas.microsoft.com/office/powerpoint/2010/main" val="1671808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Give a brief overview of the presentation.</a:t>
            </a:r>
            <a:r>
              <a:rPr lang="en-US" baseline="0" dirty="0" smtClean="0"/>
              <a:t> D</a:t>
            </a:r>
            <a:r>
              <a:rPr lang="en-US" dirty="0" smtClean="0"/>
              <a:t>escribe the major focus of the presentation and why it is important.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Introduce each of the major topics.</a:t>
            </a:r>
          </a:p>
          <a:p>
            <a:r>
              <a:rPr lang="en-US" dirty="0" smtClean="0"/>
              <a:t>To provide a road map for the audience, you</a:t>
            </a:r>
            <a:r>
              <a:rPr lang="en-US" baseline="0" dirty="0" smtClean="0"/>
              <a:t> can </a:t>
            </a:r>
            <a:r>
              <a:rPr lang="en-US" dirty="0" smtClean="0"/>
              <a:t>repeat this Overview slide throughout the presentation, highlighting the particular topic you will discuss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This is another option</a:t>
            </a:r>
            <a:r>
              <a:rPr lang="en-US" sz="1200" baseline="0" dirty="0" smtClean="0"/>
              <a:t> for an Overview slides using transitions.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12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This is another option</a:t>
            </a:r>
            <a:r>
              <a:rPr lang="en-US" sz="1200" baseline="0" dirty="0" smtClean="0"/>
              <a:t> for an Overview slides using transitions.</a:t>
            </a:r>
            <a:endParaRPr 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8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9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51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1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9/13/2021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54" r:id="rId10"/>
    <p:sldLayoutId id="2147483655" r:id="rId11"/>
    <p:sldLayoutId id="2147483663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676400" y="1582598"/>
            <a:ext cx="8262937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C00000"/>
                </a:solidFill>
              </a:rPr>
              <a:t>STEGANOGRAFI DAN WATERMARKING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109409" y="4114800"/>
            <a:ext cx="6067928" cy="16002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Dr. Eng. Ir. </a:t>
            </a:r>
            <a:r>
              <a:rPr lang="en-US" sz="2400" b="1" dirty="0" err="1" smtClean="0">
                <a:solidFill>
                  <a:srgbClr val="0070C0"/>
                </a:solidFill>
                <a:latin typeface="+mn-lt"/>
              </a:rPr>
              <a:t>Wikky</a:t>
            </a:r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2400" b="1" dirty="0" err="1" smtClean="0">
                <a:solidFill>
                  <a:srgbClr val="0070C0"/>
                </a:solidFill>
                <a:latin typeface="+mn-lt"/>
              </a:rPr>
              <a:t>Fawwaz</a:t>
            </a:r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 Al Maki, S.T., </a:t>
            </a:r>
            <a:r>
              <a:rPr lang="en-US" sz="2400" b="1" dirty="0" err="1" smtClean="0">
                <a:solidFill>
                  <a:srgbClr val="0070C0"/>
                </a:solidFill>
                <a:latin typeface="+mn-lt"/>
              </a:rPr>
              <a:t>M.Eng</a:t>
            </a:r>
            <a:r>
              <a:rPr lang="en-US" sz="2400" b="1" dirty="0" smtClean="0">
                <a:solidFill>
                  <a:srgbClr val="0070C0"/>
                </a:solidFill>
                <a:latin typeface="+mn-lt"/>
              </a:rPr>
              <a:t>.</a:t>
            </a:r>
          </a:p>
          <a:p>
            <a:pPr algn="ctr"/>
            <a:r>
              <a:rPr lang="en-US" sz="2400" dirty="0" smtClean="0">
                <a:latin typeface="+mn-lt"/>
              </a:rPr>
              <a:t/>
            </a:r>
            <a:br>
              <a:rPr lang="en-US" sz="2400" dirty="0" smtClean="0">
                <a:latin typeface="+mn-lt"/>
              </a:rPr>
            </a:br>
            <a:r>
              <a:rPr lang="en-US" sz="2400" b="1" dirty="0" smtClean="0">
                <a:solidFill>
                  <a:srgbClr val="7030A0"/>
                </a:solidFill>
                <a:latin typeface="+mn-lt"/>
              </a:rPr>
              <a:t>TELKOM UNIVERSITY</a:t>
            </a:r>
            <a:br>
              <a:rPr lang="en-US" sz="2400" b="1" dirty="0" smtClean="0">
                <a:solidFill>
                  <a:srgbClr val="7030A0"/>
                </a:solidFill>
                <a:latin typeface="+mn-lt"/>
              </a:rPr>
            </a:br>
            <a:r>
              <a:rPr lang="en-US" sz="2400" b="1" dirty="0" smtClean="0">
                <a:solidFill>
                  <a:srgbClr val="7030A0"/>
                </a:solidFill>
                <a:latin typeface="+mn-lt"/>
              </a:rPr>
              <a:t>2021</a:t>
            </a:r>
            <a:endParaRPr lang="en-US" sz="24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76400" y="874712"/>
            <a:ext cx="7010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CII4F3 / </a:t>
            </a:r>
            <a:r>
              <a:rPr lang="en-US" sz="4000" b="1" dirty="0" err="1"/>
              <a:t>Pengolahan</a:t>
            </a:r>
            <a:r>
              <a:rPr lang="en-US" sz="4000" b="1" dirty="0"/>
              <a:t> Citra </a:t>
            </a:r>
            <a:r>
              <a:rPr lang="en-US" sz="4000" b="1" dirty="0" smtClean="0"/>
              <a:t>Digital</a:t>
            </a:r>
            <a:endParaRPr lang="en-US" sz="4000" b="1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4911147"/>
              </p:ext>
            </p:extLst>
          </p:nvPr>
        </p:nvGraphicFramePr>
        <p:xfrm>
          <a:off x="1828800" y="1752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n-US" smtClean="0"/>
              <a:t>Perkuliahan hari ini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E429971-BC57-430F-BB25-C0574E5E3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7E429971-BC57-430F-BB25-C0574E5E3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4B1729-BC98-42C1-9C6C-D65DCBA435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D54B1729-BC98-42C1-9C6C-D65DCBA435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04276DC-EE64-470A-B8BC-09067B80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C04276DC-EE64-470A-B8BC-09067B804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7A5355-225B-4C6F-AED7-6C620F99EE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B37A5355-225B-4C6F-AED7-6C620F99EE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Pendahuluan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Steganografi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i="1" dirty="0"/>
              <a:t>steganography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menyembunyikan</a:t>
            </a:r>
            <a:r>
              <a:rPr lang="en-US" dirty="0"/>
              <a:t> data </a:t>
            </a:r>
            <a:r>
              <a:rPr lang="en-US" dirty="0" err="1"/>
              <a:t>rahasia</a:t>
            </a:r>
            <a:r>
              <a:rPr lang="en-US" dirty="0"/>
              <a:t> </a:t>
            </a:r>
            <a:r>
              <a:rPr lang="en-US" dirty="0" smtClean="0"/>
              <a:t>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/>
              <a:t>wadah</a:t>
            </a:r>
            <a:r>
              <a:rPr lang="en-US" dirty="0"/>
              <a:t> (media) digital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keberadaan</a:t>
            </a:r>
            <a:r>
              <a:rPr lang="en-US" dirty="0"/>
              <a:t> data </a:t>
            </a:r>
            <a:r>
              <a:rPr lang="en-US" dirty="0" err="1"/>
              <a:t>rahasia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diketahui</a:t>
            </a:r>
            <a:r>
              <a:rPr lang="en-US" dirty="0" smtClean="0"/>
              <a:t> </a:t>
            </a:r>
            <a:r>
              <a:rPr lang="en-US" dirty="0" err="1"/>
              <a:t>oleh</a:t>
            </a:r>
            <a:r>
              <a:rPr lang="en-US" dirty="0"/>
              <a:t> orang.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Steganografi</a:t>
            </a:r>
            <a:r>
              <a:rPr lang="en-US" dirty="0" smtClean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properti</a:t>
            </a:r>
            <a:r>
              <a:rPr lang="en-US" dirty="0"/>
              <a:t>: </a:t>
            </a:r>
            <a:r>
              <a:rPr lang="en-US" dirty="0" err="1" smtClean="0"/>
              <a:t>wadah</a:t>
            </a:r>
            <a:r>
              <a:rPr lang="en-US" dirty="0" smtClean="0"/>
              <a:t> </a:t>
            </a:r>
            <a:r>
              <a:rPr lang="en-US" dirty="0" err="1" smtClean="0"/>
              <a:t>penampung</a:t>
            </a:r>
            <a:r>
              <a:rPr lang="en-US" dirty="0" smtClean="0"/>
              <a:t> </a:t>
            </a:r>
            <a:r>
              <a:rPr lang="en-US" dirty="0" err="1"/>
              <a:t>dan</a:t>
            </a:r>
            <a:r>
              <a:rPr lang="en-US" dirty="0"/>
              <a:t> data </a:t>
            </a:r>
            <a:r>
              <a:rPr lang="en-US" dirty="0" err="1"/>
              <a:t>rahasia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Steganografi</a:t>
            </a:r>
            <a:r>
              <a:rPr lang="en-US" dirty="0" smtClean="0"/>
              <a:t> digital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/>
              <a:t>media digital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wadah</a:t>
            </a:r>
            <a:r>
              <a:rPr lang="en-US" dirty="0"/>
              <a:t> </a:t>
            </a:r>
            <a:r>
              <a:rPr lang="en-US" dirty="0" err="1"/>
              <a:t>penampung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, </a:t>
            </a:r>
            <a:r>
              <a:rPr lang="en-US" dirty="0" err="1" smtClean="0"/>
              <a:t>suara</a:t>
            </a:r>
            <a:r>
              <a:rPr lang="en-US" dirty="0" smtClean="0"/>
              <a:t> (</a:t>
            </a:r>
            <a:r>
              <a:rPr lang="en-US" dirty="0"/>
              <a:t>audio),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video.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/>
              <a:t>rahasia</a:t>
            </a:r>
            <a:r>
              <a:rPr lang="en-US" dirty="0"/>
              <a:t> yang </a:t>
            </a:r>
            <a:r>
              <a:rPr lang="en-US" dirty="0" err="1"/>
              <a:t>disembunyikan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 smtClean="0"/>
              <a:t>berupa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, </a:t>
            </a:r>
            <a:r>
              <a:rPr lang="en-US" dirty="0" err="1"/>
              <a:t>teks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video.</a:t>
            </a:r>
            <a:endParaRPr lang="en-US" dirty="0" smtClean="0"/>
          </a:p>
        </p:txBody>
      </p:sp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steganografi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menyamarkan</a:t>
            </a:r>
            <a:r>
              <a:rPr lang="en-US" dirty="0"/>
              <a:t> </a:t>
            </a:r>
            <a:r>
              <a:rPr lang="en-US" dirty="0" err="1" smtClean="0"/>
              <a:t>eksistensi</a:t>
            </a:r>
            <a:r>
              <a:rPr lang="en-US" dirty="0" smtClean="0"/>
              <a:t> (</a:t>
            </a:r>
            <a:r>
              <a:rPr lang="en-US" dirty="0" err="1"/>
              <a:t>keberadaan</a:t>
            </a:r>
            <a:r>
              <a:rPr lang="en-US" dirty="0"/>
              <a:t>) data </a:t>
            </a:r>
            <a:r>
              <a:rPr lang="en-US" dirty="0" err="1"/>
              <a:t>rahasia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dideteksi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melindungi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produk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Steganografi</a:t>
            </a:r>
            <a:r>
              <a:rPr lang="en-US" dirty="0" smtClean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dipandang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kelanjutan</a:t>
            </a:r>
            <a:r>
              <a:rPr lang="en-US" dirty="0"/>
              <a:t> </a:t>
            </a:r>
            <a:r>
              <a:rPr lang="en-US" dirty="0" err="1"/>
              <a:t>kriptografi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kriptografi</a:t>
            </a:r>
            <a:r>
              <a:rPr lang="en-US" dirty="0"/>
              <a:t>, data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disandikan</a:t>
            </a:r>
            <a:r>
              <a:rPr lang="en-US" dirty="0"/>
              <a:t> (</a:t>
            </a:r>
            <a:r>
              <a:rPr lang="en-US" i="1" dirty="0" err="1"/>
              <a:t>ciphertext</a:t>
            </a:r>
            <a:r>
              <a:rPr lang="en-US" dirty="0"/>
              <a:t>)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steganografi</a:t>
            </a:r>
            <a:r>
              <a:rPr lang="en-US" dirty="0" smtClean="0"/>
              <a:t> </a:t>
            </a:r>
            <a:r>
              <a:rPr lang="en-US" dirty="0" err="1"/>
              <a:t>cipherteks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ketiga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keberadaannya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/>
              <a:t>rahasia</a:t>
            </a:r>
            <a:r>
              <a:rPr lang="en-US" dirty="0"/>
              <a:t> yang </a:t>
            </a:r>
            <a:r>
              <a:rPr lang="en-US" dirty="0" err="1"/>
              <a:t>disembunyikan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diekstraksi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 smtClean="0"/>
              <a:t>persis</a:t>
            </a:r>
            <a:r>
              <a:rPr lang="en-US" dirty="0" smtClean="0"/>
              <a:t> </a:t>
            </a:r>
            <a:r>
              <a:rPr lang="en-US" dirty="0" err="1" smtClean="0"/>
              <a:t>sama</a:t>
            </a:r>
            <a:r>
              <a:rPr lang="en-US" dirty="0" smtClean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keadaan</a:t>
            </a:r>
            <a:r>
              <a:rPr lang="en-US" dirty="0"/>
              <a:t> </a:t>
            </a:r>
            <a:r>
              <a:rPr lang="en-US" dirty="0" err="1"/>
              <a:t>aslinya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644395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95400" y="2363450"/>
            <a:ext cx="6781800" cy="38087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7200" dirty="0" err="1" smtClean="0"/>
              <a:t>Steganografi</a:t>
            </a:r>
            <a:endParaRPr lang="en-US" sz="7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0" y="0"/>
            <a:ext cx="7765662" cy="1647612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8077200" cy="961222"/>
          </a:xfrm>
        </p:spPr>
        <p:txBody>
          <a:bodyPr/>
          <a:lstStyle/>
          <a:p>
            <a:r>
              <a:rPr lang="en-US" dirty="0" err="1" smtClean="0"/>
              <a:t>Kriteria</a:t>
            </a:r>
            <a:r>
              <a:rPr lang="en-US" dirty="0" smtClean="0"/>
              <a:t> </a:t>
            </a:r>
            <a:r>
              <a:rPr lang="en-US" dirty="0" err="1" smtClean="0"/>
              <a:t>Steganografi</a:t>
            </a:r>
            <a:r>
              <a:rPr lang="en-US" dirty="0" smtClean="0"/>
              <a:t> Yang </a:t>
            </a:r>
            <a:r>
              <a:rPr lang="en-US" dirty="0" err="1" smtClean="0"/>
              <a:t>Bagus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8229600" cy="5638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err="1" smtClean="0"/>
              <a:t>Penyembunyian</a:t>
            </a:r>
            <a:r>
              <a:rPr lang="en-US" sz="1800" dirty="0" smtClean="0"/>
              <a:t> </a:t>
            </a:r>
            <a:r>
              <a:rPr lang="en-US" sz="1800" dirty="0"/>
              <a:t>data </a:t>
            </a:r>
            <a:r>
              <a:rPr lang="en-US" sz="1800" dirty="0" err="1"/>
              <a:t>rahasia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digital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mengubah</a:t>
            </a:r>
            <a:r>
              <a:rPr lang="en-US" sz="1800" dirty="0"/>
              <a:t> </a:t>
            </a:r>
            <a:r>
              <a:rPr lang="en-US" sz="1800" dirty="0" err="1"/>
              <a:t>kualitas</a:t>
            </a:r>
            <a:r>
              <a:rPr lang="en-US" sz="1800" dirty="0"/>
              <a:t> </a:t>
            </a:r>
            <a:r>
              <a:rPr lang="en-US" sz="1800" dirty="0" err="1" smtClean="0"/>
              <a:t>citra</a:t>
            </a:r>
            <a:r>
              <a:rPr lang="en-US" sz="1800" dirty="0" smtClean="0"/>
              <a:t> </a:t>
            </a:r>
            <a:r>
              <a:rPr lang="en-US" sz="1800" dirty="0" err="1" smtClean="0"/>
              <a:t>tersebut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  <a:r>
              <a:rPr lang="en-US" sz="1800" dirty="0" err="1" smtClean="0"/>
              <a:t>Kriteria</a:t>
            </a:r>
            <a:r>
              <a:rPr lang="en-US" sz="1800" dirty="0" smtClean="0"/>
              <a:t> </a:t>
            </a:r>
            <a:r>
              <a:rPr lang="en-US" sz="1800" dirty="0"/>
              <a:t>yang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diperhatikan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penyembunyian</a:t>
            </a:r>
            <a:r>
              <a:rPr lang="en-US" sz="1800" dirty="0"/>
              <a:t> data </a:t>
            </a:r>
            <a:r>
              <a:rPr lang="en-US" sz="1800" dirty="0" err="1"/>
              <a:t>adalah</a:t>
            </a:r>
            <a:r>
              <a:rPr lang="en-US" sz="1800" dirty="0" smtClean="0"/>
              <a:t>:</a:t>
            </a:r>
          </a:p>
          <a:p>
            <a:pPr algn="just"/>
            <a:endParaRPr lang="en-US" sz="1800" dirty="0"/>
          </a:p>
          <a:p>
            <a:pPr marL="0" indent="0" algn="just">
              <a:buNone/>
            </a:pPr>
            <a:r>
              <a:rPr lang="en-US" sz="1800" b="1" dirty="0"/>
              <a:t>1. </a:t>
            </a:r>
            <a:r>
              <a:rPr lang="en-US" sz="1800" b="1" i="1" dirty="0"/>
              <a:t>Fidelity</a:t>
            </a:r>
            <a:r>
              <a:rPr lang="en-US" sz="1800" b="1" dirty="0"/>
              <a:t>. </a:t>
            </a:r>
            <a:endParaRPr lang="en-US" sz="1800" b="1" dirty="0" smtClean="0"/>
          </a:p>
          <a:p>
            <a:pPr marL="0" indent="0" algn="just">
              <a:buNone/>
            </a:pPr>
            <a:r>
              <a:rPr lang="en-US" sz="1800" dirty="0" err="1" smtClean="0"/>
              <a:t>Mutu</a:t>
            </a:r>
            <a:r>
              <a:rPr lang="en-US" sz="1800" dirty="0" smtClean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penampung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jauh</a:t>
            </a:r>
            <a:r>
              <a:rPr lang="en-US" sz="1800" dirty="0"/>
              <a:t> </a:t>
            </a:r>
            <a:r>
              <a:rPr lang="en-US" sz="1800" dirty="0" err="1"/>
              <a:t>berubah</a:t>
            </a:r>
            <a:r>
              <a:rPr lang="en-US" sz="1800" dirty="0"/>
              <a:t>. </a:t>
            </a:r>
            <a:r>
              <a:rPr lang="en-US" sz="1800" dirty="0" err="1"/>
              <a:t>Setelah</a:t>
            </a:r>
            <a:r>
              <a:rPr lang="en-US" sz="1800" dirty="0"/>
              <a:t> </a:t>
            </a:r>
            <a:r>
              <a:rPr lang="en-US" sz="1800" dirty="0" err="1"/>
              <a:t>penambahan</a:t>
            </a:r>
            <a:r>
              <a:rPr lang="en-US" sz="1800" dirty="0"/>
              <a:t> </a:t>
            </a:r>
            <a:r>
              <a:rPr lang="en-US" sz="1800" dirty="0" smtClean="0"/>
              <a:t>data </a:t>
            </a:r>
            <a:r>
              <a:rPr lang="en-US" sz="1800" dirty="0" err="1" smtClean="0"/>
              <a:t>rahasia</a:t>
            </a:r>
            <a:r>
              <a:rPr lang="en-US" sz="1800" dirty="0"/>
              <a:t>,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hasil</a:t>
            </a:r>
            <a:r>
              <a:rPr lang="en-US" sz="1800" dirty="0"/>
              <a:t> </a:t>
            </a:r>
            <a:r>
              <a:rPr lang="en-US" sz="1800" dirty="0" err="1"/>
              <a:t>steganografi</a:t>
            </a:r>
            <a:r>
              <a:rPr lang="en-US" sz="1800" dirty="0"/>
              <a:t> </a:t>
            </a:r>
            <a:r>
              <a:rPr lang="en-US" sz="1800" dirty="0" err="1"/>
              <a:t>masih</a:t>
            </a:r>
            <a:r>
              <a:rPr lang="en-US" sz="1800" dirty="0"/>
              <a:t> </a:t>
            </a:r>
            <a:r>
              <a:rPr lang="en-US" sz="1800" dirty="0" err="1"/>
              <a:t>terlihat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baik</a:t>
            </a:r>
            <a:r>
              <a:rPr lang="en-US" sz="1800" dirty="0"/>
              <a:t>. </a:t>
            </a:r>
            <a:r>
              <a:rPr lang="en-US" sz="1800" dirty="0" err="1"/>
              <a:t>Pengamat</a:t>
            </a:r>
            <a:r>
              <a:rPr lang="en-US" sz="1800" dirty="0"/>
              <a:t> </a:t>
            </a:r>
            <a:r>
              <a:rPr lang="en-US" sz="1800" dirty="0" err="1" smtClean="0"/>
              <a:t>tidak</a:t>
            </a:r>
            <a:r>
              <a:rPr lang="en-US" sz="1800" dirty="0" smtClean="0"/>
              <a:t> </a:t>
            </a:r>
            <a:r>
              <a:rPr lang="en-US" sz="1800" dirty="0" err="1" smtClean="0"/>
              <a:t>mengetahui</a:t>
            </a:r>
            <a:r>
              <a:rPr lang="en-US" sz="1800" dirty="0" smtClean="0"/>
              <a:t> </a:t>
            </a:r>
            <a:r>
              <a:rPr lang="en-US" sz="1800" dirty="0" err="1"/>
              <a:t>kalau</a:t>
            </a:r>
            <a:r>
              <a:rPr lang="en-US" sz="1800" dirty="0"/>
              <a:t> di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r>
              <a:rPr lang="en-US" sz="1800" dirty="0"/>
              <a:t> </a:t>
            </a:r>
            <a:r>
              <a:rPr lang="en-US" sz="1800" dirty="0" err="1"/>
              <a:t>terdapat</a:t>
            </a:r>
            <a:r>
              <a:rPr lang="en-US" sz="1800" dirty="0"/>
              <a:t> data </a:t>
            </a:r>
            <a:r>
              <a:rPr lang="en-US" sz="1800" dirty="0" err="1"/>
              <a:t>rahasia</a:t>
            </a:r>
            <a:r>
              <a:rPr lang="en-US" sz="1800" dirty="0" smtClean="0"/>
              <a:t>.</a:t>
            </a:r>
          </a:p>
          <a:p>
            <a:pPr algn="just"/>
            <a:endParaRPr lang="en-US" sz="1800" dirty="0"/>
          </a:p>
          <a:p>
            <a:pPr marL="0" indent="0" algn="just">
              <a:buNone/>
            </a:pPr>
            <a:r>
              <a:rPr lang="en-US" sz="1800" b="1" dirty="0"/>
              <a:t>2. </a:t>
            </a:r>
            <a:r>
              <a:rPr lang="en-US" sz="1800" b="1" i="1" dirty="0"/>
              <a:t>Robustness</a:t>
            </a:r>
            <a:r>
              <a:rPr lang="en-US" sz="1800" b="1" dirty="0" smtClean="0"/>
              <a:t>.</a:t>
            </a:r>
          </a:p>
          <a:p>
            <a:pPr marL="0" indent="0" algn="just">
              <a:buNone/>
            </a:pPr>
            <a:r>
              <a:rPr lang="en-US" sz="1800" dirty="0" smtClean="0"/>
              <a:t>Data </a:t>
            </a:r>
            <a:r>
              <a:rPr lang="en-US" sz="1800" dirty="0"/>
              <a:t>yang </a:t>
            </a:r>
            <a:r>
              <a:rPr lang="en-US" sz="1800" dirty="0" err="1"/>
              <a:t>disembunyikan</a:t>
            </a:r>
            <a:r>
              <a:rPr lang="en-US" sz="1800" dirty="0"/>
              <a:t>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tahan</a:t>
            </a:r>
            <a:r>
              <a:rPr lang="en-US" sz="1800" dirty="0"/>
              <a:t> (</a:t>
            </a:r>
            <a:r>
              <a:rPr lang="en-US" sz="1800" i="1" dirty="0"/>
              <a:t>robust</a:t>
            </a:r>
            <a:r>
              <a:rPr lang="en-US" sz="1800" dirty="0"/>
              <a:t>) </a:t>
            </a:r>
            <a:r>
              <a:rPr lang="en-US" sz="1800" dirty="0" err="1"/>
              <a:t>terhadap</a:t>
            </a:r>
            <a:r>
              <a:rPr lang="en-US" sz="1800" dirty="0"/>
              <a:t> </a:t>
            </a:r>
            <a:r>
              <a:rPr lang="en-US" sz="1800" dirty="0" err="1" smtClean="0"/>
              <a:t>berbagai</a:t>
            </a:r>
            <a:r>
              <a:rPr lang="en-US" sz="1800" dirty="0" smtClean="0"/>
              <a:t> </a:t>
            </a:r>
            <a:r>
              <a:rPr lang="en-US" sz="1800" dirty="0" err="1" smtClean="0"/>
              <a:t>operasi</a:t>
            </a:r>
            <a:r>
              <a:rPr lang="en-US" sz="1800" dirty="0" smtClean="0"/>
              <a:t> </a:t>
            </a:r>
            <a:r>
              <a:rPr lang="en-US" sz="1800" dirty="0" err="1"/>
              <a:t>manipulasi</a:t>
            </a:r>
            <a:r>
              <a:rPr lang="en-US" sz="1800" dirty="0"/>
              <a:t> yang </a:t>
            </a:r>
            <a:r>
              <a:rPr lang="en-US" sz="1800" dirty="0" err="1"/>
              <a:t>dilakukan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penampung</a:t>
            </a:r>
            <a:r>
              <a:rPr lang="en-US" sz="1800" dirty="0"/>
              <a:t>, </a:t>
            </a:r>
            <a:r>
              <a:rPr lang="en-US" sz="1800" dirty="0" err="1"/>
              <a:t>seperti</a:t>
            </a:r>
            <a:r>
              <a:rPr lang="en-US" sz="1800" dirty="0"/>
              <a:t> </a:t>
            </a:r>
            <a:r>
              <a:rPr lang="en-US" sz="1800" dirty="0" err="1" smtClean="0"/>
              <a:t>pengubahan</a:t>
            </a:r>
            <a:r>
              <a:rPr lang="en-US" sz="1800" dirty="0" smtClean="0"/>
              <a:t> </a:t>
            </a:r>
            <a:r>
              <a:rPr lang="en-US" sz="1800" dirty="0" err="1" smtClean="0"/>
              <a:t>kontras</a:t>
            </a:r>
            <a:r>
              <a:rPr lang="en-US" sz="1800" dirty="0"/>
              <a:t>, </a:t>
            </a:r>
            <a:r>
              <a:rPr lang="en-US" sz="1800" dirty="0" err="1"/>
              <a:t>penajaman</a:t>
            </a:r>
            <a:r>
              <a:rPr lang="en-US" sz="1800" dirty="0"/>
              <a:t>, </a:t>
            </a:r>
            <a:r>
              <a:rPr lang="en-US" sz="1800" dirty="0" err="1"/>
              <a:t>pemampatan</a:t>
            </a:r>
            <a:r>
              <a:rPr lang="en-US" sz="1800" dirty="0"/>
              <a:t>, </a:t>
            </a:r>
            <a:r>
              <a:rPr lang="en-US" sz="1800" dirty="0" err="1"/>
              <a:t>rotasi</a:t>
            </a:r>
            <a:r>
              <a:rPr lang="en-US" sz="1800" dirty="0"/>
              <a:t>, </a:t>
            </a:r>
            <a:r>
              <a:rPr lang="en-US" sz="1800" dirty="0" err="1"/>
              <a:t>perbesaran</a:t>
            </a:r>
            <a:r>
              <a:rPr lang="en-US" sz="1800" dirty="0"/>
              <a:t> </a:t>
            </a:r>
            <a:r>
              <a:rPr lang="en-US" sz="1800" dirty="0" err="1"/>
              <a:t>gambar</a:t>
            </a:r>
            <a:r>
              <a:rPr lang="en-US" sz="1800" dirty="0"/>
              <a:t>, </a:t>
            </a:r>
            <a:r>
              <a:rPr lang="en-US" sz="1800" dirty="0" err="1" smtClean="0"/>
              <a:t>pemotongan</a:t>
            </a:r>
            <a:r>
              <a:rPr lang="en-US" sz="1800" dirty="0" smtClean="0"/>
              <a:t> (</a:t>
            </a:r>
            <a:r>
              <a:rPr lang="en-US" sz="1800" i="1" dirty="0"/>
              <a:t>cropping</a:t>
            </a:r>
            <a:r>
              <a:rPr lang="en-US" sz="1800" dirty="0"/>
              <a:t>), </a:t>
            </a:r>
            <a:r>
              <a:rPr lang="en-US" sz="1800" dirty="0" err="1"/>
              <a:t>enkripsi</a:t>
            </a:r>
            <a:r>
              <a:rPr lang="en-US" sz="1800" dirty="0"/>
              <a:t>,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sebagainya</a:t>
            </a:r>
            <a:r>
              <a:rPr lang="en-US" sz="1800" dirty="0"/>
              <a:t>. </a:t>
            </a:r>
            <a:r>
              <a:rPr lang="en-US" sz="1800" dirty="0" err="1"/>
              <a:t>Bila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penampung</a:t>
            </a:r>
            <a:r>
              <a:rPr lang="en-US" sz="1800" dirty="0"/>
              <a:t> </a:t>
            </a:r>
            <a:r>
              <a:rPr lang="en-US" sz="1800" dirty="0" err="1" smtClean="0"/>
              <a:t>dilakukan</a:t>
            </a:r>
            <a:r>
              <a:rPr lang="en-US" sz="1800" dirty="0" smtClean="0"/>
              <a:t> </a:t>
            </a:r>
            <a:r>
              <a:rPr lang="en-US" sz="1800" dirty="0" err="1" smtClean="0"/>
              <a:t>operasi-operasi</a:t>
            </a:r>
            <a:r>
              <a:rPr lang="en-US" sz="1800" dirty="0" smtClean="0"/>
              <a:t> </a:t>
            </a:r>
            <a:r>
              <a:rPr lang="en-US" sz="1800" dirty="0" err="1"/>
              <a:t>pengolahan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data yang </a:t>
            </a:r>
            <a:r>
              <a:rPr lang="en-US" sz="1800" dirty="0" err="1" smtClean="0"/>
              <a:t>disembunyikan</a:t>
            </a:r>
            <a:r>
              <a:rPr lang="en-US" sz="1800" dirty="0" smtClean="0"/>
              <a:t> </a:t>
            </a:r>
            <a:r>
              <a:rPr lang="en-US" sz="1800" dirty="0" err="1" smtClean="0"/>
              <a:t>seharusnya</a:t>
            </a:r>
            <a:r>
              <a:rPr lang="en-US" sz="1800" dirty="0" smtClean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rusak</a:t>
            </a:r>
            <a:r>
              <a:rPr lang="en-US" sz="1800" dirty="0"/>
              <a:t> (</a:t>
            </a:r>
            <a:r>
              <a:rPr lang="en-US" sz="1800" dirty="0" err="1"/>
              <a:t>tetap</a:t>
            </a:r>
            <a:r>
              <a:rPr lang="en-US" sz="1800" dirty="0"/>
              <a:t> valid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diekstraksi</a:t>
            </a:r>
            <a:r>
              <a:rPr lang="en-US" sz="1800" dirty="0"/>
              <a:t> </a:t>
            </a:r>
            <a:r>
              <a:rPr lang="en-US" sz="1800" dirty="0" err="1"/>
              <a:t>kembali</a:t>
            </a:r>
            <a:r>
              <a:rPr lang="en-US" sz="1800" dirty="0" smtClean="0"/>
              <a:t>)</a:t>
            </a:r>
          </a:p>
          <a:p>
            <a:pPr algn="just"/>
            <a:endParaRPr lang="en-US" sz="1800" dirty="0"/>
          </a:p>
          <a:p>
            <a:pPr marL="0" indent="0" algn="just">
              <a:buNone/>
            </a:pPr>
            <a:r>
              <a:rPr lang="en-US" sz="1800" b="1" dirty="0"/>
              <a:t>3. </a:t>
            </a:r>
            <a:r>
              <a:rPr lang="en-US" sz="1800" b="1" i="1" dirty="0"/>
              <a:t>Recovery</a:t>
            </a:r>
            <a:r>
              <a:rPr lang="en-US" sz="1800" b="1" dirty="0"/>
              <a:t>. </a:t>
            </a:r>
            <a:endParaRPr lang="en-US" sz="1800" b="1" dirty="0" smtClean="0"/>
          </a:p>
          <a:p>
            <a:pPr marL="0" indent="0" algn="just">
              <a:buNone/>
            </a:pPr>
            <a:r>
              <a:rPr lang="en-US" sz="1800" dirty="0" smtClean="0"/>
              <a:t>Data </a:t>
            </a:r>
            <a:r>
              <a:rPr lang="en-US" sz="1800" dirty="0"/>
              <a:t>yang </a:t>
            </a:r>
            <a:r>
              <a:rPr lang="en-US" sz="1800" dirty="0" err="1"/>
              <a:t>disembunyikan</a:t>
            </a:r>
            <a:r>
              <a:rPr lang="en-US" sz="1800" dirty="0"/>
              <a:t>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diungkapkan</a:t>
            </a:r>
            <a:r>
              <a:rPr lang="en-US" sz="1800" dirty="0"/>
              <a:t> </a:t>
            </a:r>
            <a:r>
              <a:rPr lang="en-US" sz="1800" dirty="0" err="1" smtClean="0"/>
              <a:t>kembali</a:t>
            </a:r>
            <a:r>
              <a:rPr lang="en-US" sz="1800" dirty="0" smtClean="0"/>
              <a:t> (</a:t>
            </a:r>
            <a:r>
              <a:rPr lang="en-US" sz="1800" i="1" dirty="0"/>
              <a:t>reveal</a:t>
            </a:r>
            <a:r>
              <a:rPr lang="en-US" sz="1800" dirty="0"/>
              <a:t>). </a:t>
            </a:r>
            <a:r>
              <a:rPr lang="en-US" sz="1800" dirty="0" err="1"/>
              <a:t>Karena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  <a:r>
              <a:rPr lang="en-US" sz="1800" dirty="0" err="1"/>
              <a:t>steganografi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data hiding,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 smtClean="0"/>
              <a:t>sewaktu-waktu</a:t>
            </a:r>
            <a:r>
              <a:rPr lang="en-US" sz="1800" dirty="0" smtClean="0"/>
              <a:t> data </a:t>
            </a:r>
            <a:r>
              <a:rPr lang="en-US" sz="1800" dirty="0" err="1"/>
              <a:t>rahasia</a:t>
            </a:r>
            <a:r>
              <a:rPr lang="en-US" sz="1800" dirty="0"/>
              <a:t> di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citra</a:t>
            </a:r>
            <a:r>
              <a:rPr lang="en-US" sz="1800" dirty="0"/>
              <a:t> </a:t>
            </a:r>
            <a:r>
              <a:rPr lang="en-US" sz="1800" dirty="0" err="1"/>
              <a:t>penampung</a:t>
            </a:r>
            <a:r>
              <a:rPr lang="en-US" sz="1800" dirty="0"/>
              <a:t>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diambil</a:t>
            </a:r>
            <a:r>
              <a:rPr lang="en-US" sz="1800" dirty="0"/>
              <a:t> </a:t>
            </a:r>
            <a:r>
              <a:rPr lang="en-US" sz="1800" dirty="0" err="1"/>
              <a:t>kembali</a:t>
            </a:r>
            <a:r>
              <a:rPr lang="en-US" sz="1800" dirty="0"/>
              <a:t> </a:t>
            </a:r>
            <a:r>
              <a:rPr lang="en-US" sz="1800" dirty="0" err="1" smtClean="0"/>
              <a:t>untuk</a:t>
            </a:r>
            <a:r>
              <a:rPr lang="en-US" sz="1800" dirty="0" smtClean="0"/>
              <a:t> </a:t>
            </a:r>
            <a:r>
              <a:rPr lang="en-US" sz="1800" dirty="0" err="1" smtClean="0"/>
              <a:t>digunakan</a:t>
            </a:r>
            <a:r>
              <a:rPr lang="en-US" sz="1800" dirty="0" smtClean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lanjut</a:t>
            </a:r>
            <a:r>
              <a:rPr lang="en-US" sz="1800" dirty="0"/>
              <a:t>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9365388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Penyembunyian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7924800" cy="480438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Penyembunyian</a:t>
            </a:r>
            <a:r>
              <a:rPr lang="en-US" dirty="0"/>
              <a:t> data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mengganti</a:t>
            </a:r>
            <a:r>
              <a:rPr lang="en-US" dirty="0"/>
              <a:t> bit-bit data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 smtClean="0"/>
              <a:t>segmen</a:t>
            </a:r>
            <a:r>
              <a:rPr lang="en-US" dirty="0" smtClean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 bit-bit data </a:t>
            </a:r>
            <a:r>
              <a:rPr lang="en-US" dirty="0" err="1"/>
              <a:t>rahasia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Hingga</a:t>
            </a:r>
            <a:r>
              <a:rPr lang="en-US" dirty="0" smtClean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dikemukakan</a:t>
            </a:r>
            <a:r>
              <a:rPr lang="en-US" dirty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para </a:t>
            </a:r>
            <a:r>
              <a:rPr lang="en-US" dirty="0" err="1"/>
              <a:t>ilmuwan</a:t>
            </a:r>
            <a:r>
              <a:rPr lang="en-US" dirty="0"/>
              <a:t> </a:t>
            </a:r>
            <a:r>
              <a:rPr lang="en-US" dirty="0" err="1"/>
              <a:t>metode-metode</a:t>
            </a:r>
            <a:r>
              <a:rPr lang="en-US" dirty="0"/>
              <a:t> </a:t>
            </a:r>
            <a:r>
              <a:rPr lang="en-US" dirty="0" err="1"/>
              <a:t>penyembunyian</a:t>
            </a:r>
            <a:r>
              <a:rPr lang="en-US" dirty="0"/>
              <a:t> data. </a:t>
            </a:r>
            <a:r>
              <a:rPr lang="en-US" dirty="0" err="1"/>
              <a:t>Metode</a:t>
            </a:r>
            <a:r>
              <a:rPr lang="en-US" dirty="0"/>
              <a:t> yang </a:t>
            </a:r>
            <a:r>
              <a:rPr lang="en-US" dirty="0" smtClean="0"/>
              <a:t>paling </a:t>
            </a:r>
            <a:r>
              <a:rPr lang="en-US" dirty="0" err="1" smtClean="0"/>
              <a:t>sederhana</a:t>
            </a:r>
            <a:r>
              <a:rPr lang="en-US" dirty="0" smtClean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modifikasi</a:t>
            </a:r>
            <a:r>
              <a:rPr lang="en-US" dirty="0"/>
              <a:t> </a:t>
            </a:r>
            <a:r>
              <a:rPr lang="en-US" i="1" dirty="0"/>
              <a:t>LSB </a:t>
            </a:r>
            <a:r>
              <a:rPr lang="en-US" dirty="0"/>
              <a:t>(</a:t>
            </a:r>
            <a:r>
              <a:rPr lang="en-US" i="1" dirty="0"/>
              <a:t>Least Significant Bit Modification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susunan</a:t>
            </a:r>
            <a:r>
              <a:rPr lang="en-US" dirty="0"/>
              <a:t> bit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i="1" dirty="0"/>
              <a:t>byte </a:t>
            </a:r>
            <a:r>
              <a:rPr lang="en-US" dirty="0"/>
              <a:t>(1 </a:t>
            </a:r>
            <a:r>
              <a:rPr lang="en-US" i="1" dirty="0"/>
              <a:t>byte </a:t>
            </a:r>
            <a:r>
              <a:rPr lang="en-US" dirty="0"/>
              <a:t>= 8 bit), </a:t>
            </a:r>
            <a:r>
              <a:rPr lang="en-US" dirty="0" err="1"/>
              <a:t>ada</a:t>
            </a:r>
            <a:r>
              <a:rPr lang="en-US" dirty="0"/>
              <a:t> bit yang paling </a:t>
            </a:r>
            <a:r>
              <a:rPr lang="en-US" dirty="0" err="1" smtClean="0"/>
              <a:t>berarti</a:t>
            </a:r>
            <a:r>
              <a:rPr lang="en-US" dirty="0" smtClean="0"/>
              <a:t> (</a:t>
            </a:r>
            <a:r>
              <a:rPr lang="en-US" i="1" dirty="0"/>
              <a:t>most significant bit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MSB</a:t>
            </a:r>
            <a:r>
              <a:rPr lang="en-US" dirty="0"/>
              <a:t>) </a:t>
            </a:r>
            <a:r>
              <a:rPr lang="en-US" dirty="0" err="1"/>
              <a:t>dan</a:t>
            </a:r>
            <a:r>
              <a:rPr lang="en-US" dirty="0"/>
              <a:t> bit yang paling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(</a:t>
            </a:r>
            <a:r>
              <a:rPr lang="en-US" i="1" dirty="0" smtClean="0"/>
              <a:t>least significant </a:t>
            </a:r>
            <a:r>
              <a:rPr lang="en-US" i="1" dirty="0"/>
              <a:t>bit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LSB</a:t>
            </a:r>
            <a:r>
              <a:rPr lang="en-US" dirty="0"/>
              <a:t>).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844617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/>
              <a:t>modifikasi</a:t>
            </a:r>
            <a:r>
              <a:rPr lang="en-US" dirty="0"/>
              <a:t> LSB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 smtClean="0"/>
              <a:t>watermark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digital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81534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i="1" dirty="0"/>
              <a:t>byte </a:t>
            </a:r>
            <a:r>
              <a:rPr lang="en-US" dirty="0"/>
              <a:t>11010010, bit 1 yang </a:t>
            </a:r>
            <a:r>
              <a:rPr lang="en-US" dirty="0" err="1"/>
              <a:t>pertama</a:t>
            </a:r>
            <a:r>
              <a:rPr lang="en-US" dirty="0"/>
              <a:t> (</a:t>
            </a:r>
            <a:r>
              <a:rPr lang="en-US" dirty="0" err="1"/>
              <a:t>digarisbawahi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smtClean="0"/>
              <a:t>bit </a:t>
            </a:r>
            <a:r>
              <a:rPr lang="en-US" i="1" dirty="0" smtClean="0"/>
              <a:t>MSB </a:t>
            </a:r>
            <a:r>
              <a:rPr lang="en-US" dirty="0" err="1"/>
              <a:t>dan</a:t>
            </a:r>
            <a:r>
              <a:rPr lang="en-US" dirty="0"/>
              <a:t> bit 0 yang </a:t>
            </a:r>
            <a:r>
              <a:rPr lang="en-US" dirty="0" err="1"/>
              <a:t>terakhir</a:t>
            </a:r>
            <a:r>
              <a:rPr lang="en-US" dirty="0"/>
              <a:t> (</a:t>
            </a:r>
            <a:r>
              <a:rPr lang="en-US" dirty="0" err="1"/>
              <a:t>digarisbawahi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bit </a:t>
            </a:r>
            <a:r>
              <a:rPr lang="en-US" i="1" dirty="0"/>
              <a:t>LSB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Bit </a:t>
            </a:r>
            <a:r>
              <a:rPr lang="en-US" dirty="0"/>
              <a:t>yang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/>
              <a:t>diganti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bit </a:t>
            </a:r>
            <a:r>
              <a:rPr lang="en-US" i="1" dirty="0"/>
              <a:t>LSB</a:t>
            </a:r>
            <a:r>
              <a:rPr lang="en-US" dirty="0"/>
              <a:t>, </a:t>
            </a:r>
            <a:r>
              <a:rPr lang="en-US" dirty="0" err="1"/>
              <a:t>sebab</a:t>
            </a:r>
            <a:r>
              <a:rPr lang="en-US" dirty="0"/>
              <a:t> </a:t>
            </a:r>
            <a:r>
              <a:rPr lang="en-US" dirty="0" err="1"/>
              <a:t>penggantian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 smtClean="0"/>
              <a:t>byte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</a:p>
          <a:p>
            <a:r>
              <a:rPr lang="en-US" dirty="0" err="1" smtClean="0"/>
              <a:t>Misal</a:t>
            </a:r>
            <a:r>
              <a:rPr lang="en-US" dirty="0" smtClean="0"/>
              <a:t>, </a:t>
            </a:r>
            <a:r>
              <a:rPr lang="en-US" i="1" dirty="0" smtClean="0"/>
              <a:t>byte </a:t>
            </a:r>
            <a:r>
              <a:rPr lang="en-US" dirty="0" err="1"/>
              <a:t>tersebut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bit </a:t>
            </a:r>
            <a:r>
              <a:rPr lang="en-US" i="1" dirty="0"/>
              <a:t>LSB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keuntungan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 smtClean="0"/>
              <a:t>dimanfaatkan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yang </a:t>
            </a:r>
            <a:r>
              <a:rPr lang="en-US" dirty="0" err="1"/>
              <a:t>kecil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839162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38200"/>
            <a:ext cx="8077200" cy="586739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segmen</a:t>
            </a:r>
            <a:r>
              <a:rPr lang="en-US" dirty="0"/>
              <a:t> </a:t>
            </a:r>
            <a:r>
              <a:rPr lang="en-US" i="1" dirty="0"/>
              <a:t>pixel</a:t>
            </a:r>
            <a:r>
              <a:rPr lang="en-US" dirty="0"/>
              <a:t>-</a:t>
            </a:r>
            <a:r>
              <a:rPr lang="en-US" i="1" dirty="0"/>
              <a:t>pixel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penambahan</a:t>
            </a:r>
            <a:r>
              <a:rPr lang="en-US" dirty="0"/>
              <a:t> bit-bit </a:t>
            </a:r>
            <a:r>
              <a:rPr lang="en-US" i="1" dirty="0"/>
              <a:t>watermark </a:t>
            </a:r>
            <a:r>
              <a:rPr lang="en-US" dirty="0" err="1" smtClean="0"/>
              <a:t>adalah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err="1"/>
              <a:t>Misalkan</a:t>
            </a:r>
            <a:r>
              <a:rPr lang="en-US" dirty="0"/>
              <a:t> data </a:t>
            </a:r>
            <a:r>
              <a:rPr lang="en-US" dirty="0" err="1"/>
              <a:t>rahasia</a:t>
            </a:r>
            <a:r>
              <a:rPr lang="en-US" dirty="0"/>
              <a:t> (yang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dikonversi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biner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0111. </a:t>
            </a:r>
            <a:r>
              <a:rPr lang="en-US" dirty="0" err="1" smtClean="0"/>
              <a:t>Setiap</a:t>
            </a:r>
            <a:r>
              <a:rPr lang="en-US" dirty="0" smtClean="0"/>
              <a:t> bit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i="1" dirty="0" err="1" smtClean="0"/>
              <a:t>m</a:t>
            </a:r>
            <a:r>
              <a:rPr lang="en-US" dirty="0" err="1" smtClean="0"/>
              <a:t>enggantikan</a:t>
            </a:r>
            <a:r>
              <a:rPr lang="en-US" dirty="0" smtClean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i="1" dirty="0"/>
              <a:t>LSB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segmen</a:t>
            </a:r>
            <a:r>
              <a:rPr lang="en-US" dirty="0"/>
              <a:t> data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 smtClean="0"/>
              <a:t>: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memperkuat</a:t>
            </a:r>
            <a:r>
              <a:rPr lang="en-US" dirty="0"/>
              <a:t> </a:t>
            </a:r>
            <a:r>
              <a:rPr lang="en-US" dirty="0" err="1"/>
              <a:t>penyembunyian</a:t>
            </a:r>
            <a:r>
              <a:rPr lang="en-US" dirty="0"/>
              <a:t> data, bit-bit 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mengganti</a:t>
            </a:r>
            <a:r>
              <a:rPr lang="en-US" dirty="0" smtClean="0"/>
              <a:t> </a:t>
            </a:r>
            <a:r>
              <a:rPr lang="en-US" i="1" dirty="0"/>
              <a:t>byte-byte </a:t>
            </a:r>
            <a:r>
              <a:rPr lang="en-US" dirty="0"/>
              <a:t>yang </a:t>
            </a:r>
            <a:r>
              <a:rPr lang="en-US" dirty="0" err="1"/>
              <a:t>berurutan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susunan</a:t>
            </a:r>
            <a:r>
              <a:rPr lang="en-US" dirty="0"/>
              <a:t> </a:t>
            </a:r>
            <a:r>
              <a:rPr lang="en-US" i="1" dirty="0"/>
              <a:t>byte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50 </a:t>
            </a:r>
            <a:r>
              <a:rPr lang="en-US" i="1" dirty="0"/>
              <a:t>byte </a:t>
            </a:r>
            <a:r>
              <a:rPr lang="en-US" dirty="0" err="1"/>
              <a:t>dan</a:t>
            </a:r>
            <a:r>
              <a:rPr lang="en-US" dirty="0"/>
              <a:t> 6 bit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i="1" dirty="0" smtClean="0"/>
              <a:t>byte </a:t>
            </a:r>
            <a:r>
              <a:rPr lang="en-US" dirty="0"/>
              <a:t>yang </a:t>
            </a:r>
            <a:r>
              <a:rPr lang="en-US" dirty="0" err="1"/>
              <a:t>diganti</a:t>
            </a:r>
            <a:r>
              <a:rPr lang="en-US" dirty="0"/>
              <a:t> bit </a:t>
            </a:r>
            <a:r>
              <a:rPr lang="en-US" i="1" dirty="0"/>
              <a:t>LSB</a:t>
            </a:r>
            <a:r>
              <a:rPr lang="en-US" dirty="0"/>
              <a:t>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,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i="1" dirty="0"/>
              <a:t>byte </a:t>
            </a:r>
            <a:r>
              <a:rPr lang="en-US" dirty="0" err="1"/>
              <a:t>nomor</a:t>
            </a:r>
            <a:r>
              <a:rPr lang="en-US" dirty="0"/>
              <a:t> 36, 5, 21</a:t>
            </a:r>
            <a:r>
              <a:rPr lang="en-US" dirty="0" smtClean="0"/>
              <a:t>, 10</a:t>
            </a:r>
            <a:r>
              <a:rPr lang="en-US" dirty="0"/>
              <a:t>, 18, 49.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76387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32874"/>
            <a:ext cx="6650692" cy="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116463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Pembangkitan</a:t>
            </a:r>
            <a:r>
              <a:rPr lang="en-US" dirty="0" smtClean="0"/>
              <a:t> </a:t>
            </a:r>
            <a:r>
              <a:rPr lang="en-US" dirty="0" err="1" smtClean="0"/>
              <a:t>bilangan</a:t>
            </a:r>
            <a:r>
              <a:rPr lang="en-US" dirty="0" smtClean="0"/>
              <a:t> </a:t>
            </a:r>
            <a:r>
              <a:rPr lang="en-US" dirty="0" err="1" smtClean="0"/>
              <a:t>acak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54102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dibangkitkan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pseudo-random-number-generator </a:t>
            </a:r>
            <a:r>
              <a:rPr lang="en-US" dirty="0"/>
              <a:t>(</a:t>
            </a:r>
            <a:r>
              <a:rPr lang="en-US" i="1" dirty="0"/>
              <a:t>PRNG</a:t>
            </a:r>
            <a:r>
              <a:rPr lang="en-US" dirty="0" smtClean="0"/>
              <a:t>).</a:t>
            </a:r>
          </a:p>
          <a:p>
            <a:pPr algn="just"/>
            <a:endParaRPr lang="en-US" dirty="0" smtClean="0"/>
          </a:p>
          <a:p>
            <a:pPr algn="just"/>
            <a:r>
              <a:rPr lang="en-US" i="1" dirty="0" smtClean="0"/>
              <a:t>PRNG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rahasia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membangkitkan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i="1" dirty="0"/>
              <a:t>pixel </a:t>
            </a:r>
            <a:r>
              <a:rPr lang="en-US" dirty="0"/>
              <a:t>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menyembunyikan</a:t>
            </a:r>
            <a:r>
              <a:rPr lang="en-US" dirty="0"/>
              <a:t> bit-bit.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i="1" dirty="0" smtClean="0"/>
              <a:t>PRNG </a:t>
            </a:r>
            <a:r>
              <a:rPr lang="en-US" dirty="0" err="1"/>
              <a:t>dibagun</a:t>
            </a:r>
            <a:r>
              <a:rPr lang="en-US" dirty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sejumlah</a:t>
            </a:r>
            <a:r>
              <a:rPr lang="en-US" dirty="0" smtClean="0"/>
              <a:t> </a:t>
            </a:r>
            <a:r>
              <a:rPr lang="en-US" dirty="0" err="1"/>
              <a:t>cara</a:t>
            </a:r>
            <a:r>
              <a:rPr lang="en-US" dirty="0" smtClean="0"/>
              <a:t>, </a:t>
            </a:r>
            <a:r>
              <a:rPr lang="en-US" dirty="0" err="1" smtClean="0"/>
              <a:t>salah</a:t>
            </a:r>
            <a:r>
              <a:rPr lang="en-US" dirty="0" smtClean="0"/>
              <a:t>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kriptografi</a:t>
            </a:r>
            <a:r>
              <a:rPr lang="en-US" dirty="0"/>
              <a:t> </a:t>
            </a:r>
            <a:r>
              <a:rPr lang="en-US" i="1" dirty="0"/>
              <a:t>DES </a:t>
            </a:r>
            <a:r>
              <a:rPr lang="en-US" dirty="0"/>
              <a:t>(</a:t>
            </a:r>
            <a:r>
              <a:rPr lang="en-US" i="1" dirty="0"/>
              <a:t>Data </a:t>
            </a:r>
            <a:r>
              <a:rPr lang="en-US" i="1" dirty="0" smtClean="0"/>
              <a:t>Encryption Standard</a:t>
            </a:r>
            <a:r>
              <a:rPr lang="en-US" dirty="0"/>
              <a:t>),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i="1" dirty="0"/>
              <a:t>hash MD5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mode </a:t>
            </a:r>
            <a:r>
              <a:rPr lang="en-US" dirty="0" err="1"/>
              <a:t>kriptografi</a:t>
            </a:r>
            <a:r>
              <a:rPr lang="en-US" dirty="0"/>
              <a:t> </a:t>
            </a:r>
            <a:r>
              <a:rPr lang="en-US" i="1" dirty="0"/>
              <a:t>CFB </a:t>
            </a:r>
            <a:r>
              <a:rPr lang="en-US" dirty="0"/>
              <a:t>(</a:t>
            </a:r>
            <a:r>
              <a:rPr lang="en-US" i="1" dirty="0" err="1" smtClean="0"/>
              <a:t>Chiper</a:t>
            </a:r>
            <a:r>
              <a:rPr lang="en-US" i="1" dirty="0" smtClean="0"/>
              <a:t>-Feedback Mode</a:t>
            </a:r>
            <a:r>
              <a:rPr lang="en-US" dirty="0"/>
              <a:t>).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 smtClean="0"/>
              <a:t>acak</a:t>
            </a:r>
            <a:r>
              <a:rPr lang="en-US" dirty="0" smtClean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Bilangan</a:t>
            </a:r>
            <a:r>
              <a:rPr lang="en-US" dirty="0" smtClean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 smtClean="0"/>
              <a:t>dihasilkan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bit-bit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data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5805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Steganografi</a:t>
            </a:r>
            <a:r>
              <a:rPr lang="en-US" dirty="0" smtClean="0"/>
              <a:t> Citra Digital 8 bit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penyembunyian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8-bit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24-bit. </a:t>
            </a:r>
            <a:endParaRPr lang="en-US" dirty="0" smtClean="0"/>
          </a:p>
          <a:p>
            <a:pPr algn="just"/>
            <a:r>
              <a:rPr lang="en-US" dirty="0" err="1" smtClean="0"/>
              <a:t>Berkas</a:t>
            </a:r>
            <a:r>
              <a:rPr lang="en-US" dirty="0" smtClean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i="1" dirty="0"/>
              <a:t>bitmap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i="1" dirty="0"/>
              <a:t>header</a:t>
            </a:r>
            <a:r>
              <a:rPr lang="en-US" dirty="0"/>
              <a:t>, </a:t>
            </a:r>
            <a:r>
              <a:rPr lang="en-US" dirty="0" err="1"/>
              <a:t>palet</a:t>
            </a:r>
            <a:r>
              <a:rPr lang="en-US" dirty="0"/>
              <a:t> </a:t>
            </a:r>
            <a:r>
              <a:rPr lang="en-US" i="1" dirty="0"/>
              <a:t>RGB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data </a:t>
            </a:r>
            <a:r>
              <a:rPr lang="en-US" i="1" dirty="0"/>
              <a:t>bitmap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8-bit,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data </a:t>
            </a:r>
            <a:r>
              <a:rPr lang="en-US" i="1" dirty="0"/>
              <a:t>bitmap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peta</a:t>
            </a:r>
            <a:r>
              <a:rPr lang="en-US" dirty="0"/>
              <a:t> </a:t>
            </a:r>
            <a:r>
              <a:rPr lang="en-US" dirty="0" err="1"/>
              <a:t>warnanya</a:t>
            </a:r>
            <a:r>
              <a:rPr lang="en-US" dirty="0"/>
              <a:t> di </a:t>
            </a:r>
            <a:r>
              <a:rPr lang="en-US" dirty="0" err="1"/>
              <a:t>palet</a:t>
            </a:r>
            <a:r>
              <a:rPr lang="en-US" dirty="0"/>
              <a:t> </a:t>
            </a:r>
            <a:r>
              <a:rPr lang="en-US" i="1" dirty="0"/>
              <a:t>RGB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/>
              <a:t>citra</a:t>
            </a:r>
            <a:r>
              <a:rPr lang="en-US" dirty="0"/>
              <a:t> 24-bit,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palet</a:t>
            </a:r>
            <a:r>
              <a:rPr lang="en-US" dirty="0"/>
              <a:t> </a:t>
            </a:r>
            <a:r>
              <a:rPr lang="en-US" i="1" dirty="0"/>
              <a:t>RGB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i="1" dirty="0"/>
              <a:t>RGB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diuraikan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</a:t>
            </a:r>
            <a:r>
              <a:rPr lang="en-US" i="1" dirty="0"/>
              <a:t>bitmap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/>
              <a:t>elemen</a:t>
            </a:r>
            <a:r>
              <a:rPr lang="en-US" dirty="0"/>
              <a:t> data </a:t>
            </a:r>
            <a:r>
              <a:rPr lang="en-US" i="1" dirty="0"/>
              <a:t>bitmap </a:t>
            </a:r>
            <a:r>
              <a:rPr lang="en-US" dirty="0" err="1"/>
              <a:t>panjangnya</a:t>
            </a:r>
            <a:r>
              <a:rPr lang="en-US" dirty="0"/>
              <a:t> 3 </a:t>
            </a:r>
            <a:r>
              <a:rPr lang="en-US" i="1" dirty="0"/>
              <a:t>byte</a:t>
            </a:r>
            <a:r>
              <a:rPr lang="en-US" dirty="0"/>
              <a:t>,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i="1" dirty="0"/>
              <a:t>byte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2759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Teknik Penggantian Bit pada Citra bukan 24-bit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77413"/>
            <a:ext cx="8077200" cy="48805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err="1" smtClean="0"/>
              <a:t>Sebelum</a:t>
            </a:r>
            <a:r>
              <a:rPr lang="en-US" dirty="0" smtClean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penggantian</a:t>
            </a:r>
            <a:r>
              <a:rPr lang="en-US" dirty="0"/>
              <a:t> bit </a:t>
            </a:r>
            <a:r>
              <a:rPr lang="en-US" i="1" dirty="0"/>
              <a:t>LSB</a:t>
            </a:r>
            <a:r>
              <a:rPr lang="en-US" dirty="0"/>
              <a:t>, </a:t>
            </a:r>
            <a:r>
              <a:rPr lang="en-US" dirty="0" err="1"/>
              <a:t>semua</a:t>
            </a:r>
            <a:r>
              <a:rPr lang="en-US" dirty="0"/>
              <a:t> data </a:t>
            </a:r>
            <a:r>
              <a:rPr lang="en-US" dirty="0" err="1"/>
              <a:t>citra</a:t>
            </a:r>
            <a:r>
              <a:rPr lang="en-US" dirty="0"/>
              <a:t> yang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smtClean="0"/>
              <a:t>24-bit </a:t>
            </a:r>
            <a:r>
              <a:rPr lang="de-DE" dirty="0" smtClean="0"/>
              <a:t>diubah </a:t>
            </a:r>
            <a:r>
              <a:rPr lang="de-DE" dirty="0"/>
              <a:t>menjadi format 24-bit</a:t>
            </a:r>
            <a:r>
              <a:rPr lang="de-DE" dirty="0" smtClean="0"/>
              <a:t>.</a:t>
            </a:r>
          </a:p>
          <a:p>
            <a:pPr algn="just"/>
            <a:endParaRPr lang="de-DE" dirty="0" smtClean="0"/>
          </a:p>
          <a:p>
            <a:pPr algn="just"/>
            <a:r>
              <a:rPr lang="de-DE" dirty="0" smtClean="0"/>
              <a:t>Jadi</a:t>
            </a:r>
            <a:r>
              <a:rPr lang="de-DE" dirty="0"/>
              <a:t>, setiap data </a:t>
            </a:r>
            <a:r>
              <a:rPr lang="de-DE" i="1" dirty="0"/>
              <a:t>pixel </a:t>
            </a:r>
            <a:r>
              <a:rPr lang="de-DE" dirty="0"/>
              <a:t>sudah </a:t>
            </a:r>
            <a:r>
              <a:rPr lang="de-DE" dirty="0" smtClean="0"/>
              <a:t>mengandung </a:t>
            </a:r>
            <a:r>
              <a:rPr lang="en-US" dirty="0" err="1" smtClean="0"/>
              <a:t>komponen</a:t>
            </a:r>
            <a:r>
              <a:rPr lang="en-US" dirty="0" smtClean="0"/>
              <a:t> </a:t>
            </a:r>
            <a:r>
              <a:rPr lang="en-US" i="1" dirty="0"/>
              <a:t>RGB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i="1" dirty="0"/>
              <a:t>byte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data </a:t>
            </a:r>
            <a:r>
              <a:rPr lang="en-US" i="1" dirty="0"/>
              <a:t>bitmap </a:t>
            </a:r>
            <a:r>
              <a:rPr lang="en-US" dirty="0" err="1"/>
              <a:t>diganti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bit </a:t>
            </a:r>
            <a:r>
              <a:rPr lang="en-US" i="1" dirty="0" smtClean="0"/>
              <a:t>LSB</a:t>
            </a:r>
            <a:r>
              <a:rPr lang="en-US" dirty="0" smtClean="0"/>
              <a:t>-</a:t>
            </a:r>
            <a:r>
              <a:rPr lang="en-US" dirty="0" err="1" smtClean="0"/>
              <a:t>nya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/>
              <a:t>bit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i="1" dirty="0"/>
              <a:t>byte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 smtClean="0"/>
              <a:t>merupakan</a:t>
            </a:r>
            <a:r>
              <a:rPr lang="en-US" dirty="0" smtClean="0"/>
              <a:t> </a:t>
            </a:r>
            <a:r>
              <a:rPr lang="en-US" dirty="0" err="1" smtClean="0"/>
              <a:t>komponen</a:t>
            </a:r>
            <a:r>
              <a:rPr lang="en-US" dirty="0" smtClean="0"/>
              <a:t> </a:t>
            </a:r>
            <a:r>
              <a:rPr lang="en-US" dirty="0" err="1"/>
              <a:t>hijau</a:t>
            </a:r>
            <a:r>
              <a:rPr lang="en-US" dirty="0"/>
              <a:t> (G),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penggantian</a:t>
            </a:r>
            <a:r>
              <a:rPr lang="en-US" dirty="0"/>
              <a:t> 1 bit LSB-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 smtClean="0"/>
              <a:t>sedikit</a:t>
            </a:r>
            <a:r>
              <a:rPr lang="en-US" dirty="0" smtClean="0"/>
              <a:t> </a:t>
            </a:r>
            <a:r>
              <a:rPr lang="en-US" dirty="0" err="1" smtClean="0"/>
              <a:t>kadar</a:t>
            </a:r>
            <a:r>
              <a:rPr lang="en-US" dirty="0" smtClean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hijau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terdeteksi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76854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85800"/>
            <a:ext cx="8077200" cy="879232"/>
          </a:xfrm>
        </p:spPr>
        <p:txBody>
          <a:bodyPr>
            <a:normAutofit fontScale="90000"/>
          </a:bodyPr>
          <a:lstStyle/>
          <a:p>
            <a:r>
              <a:rPr lang="sv-SE" dirty="0"/>
              <a:t>Teknik Penggantian Bit pada Citra </a:t>
            </a:r>
            <a:r>
              <a:rPr lang="sv-SE" dirty="0" smtClean="0"/>
              <a:t>24-bit</a:t>
            </a:r>
            <a:r>
              <a:rPr lang="sv-SE" dirty="0"/>
              <a:t/>
            </a:r>
            <a:br>
              <a:rPr lang="sv-SE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8077200" cy="4297363"/>
          </a:xfrm>
        </p:spPr>
        <p:txBody>
          <a:bodyPr/>
          <a:lstStyle/>
          <a:p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i="1" dirty="0"/>
              <a:t>bitmap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24-bit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tersusun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i="1" dirty="0"/>
              <a:t>RGB</a:t>
            </a:r>
            <a:r>
              <a:rPr lang="en-US" dirty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format.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i="1" dirty="0"/>
              <a:t>byte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data bitmap </a:t>
            </a:r>
            <a:r>
              <a:rPr lang="en-US" dirty="0" err="1" smtClean="0"/>
              <a:t>diganti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/>
              <a:t>bit </a:t>
            </a:r>
            <a:r>
              <a:rPr lang="en-US" i="1" dirty="0"/>
              <a:t>LSB</a:t>
            </a:r>
            <a:r>
              <a:rPr lang="en-US" dirty="0"/>
              <a:t>-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bit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1756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95400" y="2363450"/>
            <a:ext cx="6781800" cy="38087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7200" dirty="0" err="1" smtClean="0"/>
              <a:t>Perubahan</a:t>
            </a:r>
            <a:r>
              <a:rPr lang="en-US" sz="7200" dirty="0" smtClean="0"/>
              <a:t> </a:t>
            </a:r>
            <a:r>
              <a:rPr lang="en-US" sz="7200" dirty="0" err="1" smtClean="0"/>
              <a:t>Warna</a:t>
            </a:r>
            <a:r>
              <a:rPr lang="en-US" sz="7200" dirty="0" smtClean="0"/>
              <a:t> </a:t>
            </a:r>
            <a:r>
              <a:rPr lang="en-US" sz="7200" dirty="0" err="1" smtClean="0"/>
              <a:t>pada</a:t>
            </a:r>
            <a:r>
              <a:rPr lang="en-US" sz="7200" dirty="0" smtClean="0"/>
              <a:t> </a:t>
            </a:r>
            <a:r>
              <a:rPr lang="en-US" sz="7200" dirty="0" err="1" smtClean="0"/>
              <a:t>Steganografi</a:t>
            </a:r>
            <a:endParaRPr lang="en-US" sz="7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0" y="0"/>
            <a:ext cx="7765662" cy="1647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2172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229600" cy="495678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8-bit,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, </a:t>
            </a:r>
            <a:r>
              <a:rPr lang="en-US" dirty="0" err="1"/>
              <a:t>hanya</a:t>
            </a:r>
            <a:r>
              <a:rPr lang="en-US" dirty="0"/>
              <a:t> 256 </a:t>
            </a:r>
            <a:r>
              <a:rPr lang="en-US" dirty="0" err="1"/>
              <a:t>warna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Pengubahan</a:t>
            </a:r>
            <a:r>
              <a:rPr lang="en-US" dirty="0" smtClean="0"/>
              <a:t> format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/>
              <a:t>8-bit </a:t>
            </a:r>
            <a:r>
              <a:rPr lang="en-US" dirty="0" err="1"/>
              <a:t>menjadi</a:t>
            </a:r>
            <a:r>
              <a:rPr lang="en-US" dirty="0"/>
              <a:t> 24-bit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(yang </a:t>
            </a:r>
            <a:r>
              <a:rPr lang="en-US" dirty="0" err="1"/>
              <a:t>semula</a:t>
            </a:r>
            <a:r>
              <a:rPr lang="en-US" dirty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terdapat</a:t>
            </a:r>
            <a:r>
              <a:rPr lang="en-US" dirty="0" smtClean="0"/>
              <a:t>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palet</a:t>
            </a:r>
            <a:r>
              <a:rPr lang="en-US" dirty="0"/>
              <a:t> RGB). </a:t>
            </a:r>
            <a:endParaRPr lang="en-US" dirty="0" smtClean="0"/>
          </a:p>
          <a:p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i="1" dirty="0"/>
              <a:t>RGB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palet</a:t>
            </a:r>
            <a:r>
              <a:rPr lang="en-US" dirty="0"/>
              <a:t> </a:t>
            </a:r>
            <a:r>
              <a:rPr lang="en-US" dirty="0" err="1" smtClean="0"/>
              <a:t>berpotensi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/>
              <a:t>8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 smtClean="0"/>
              <a:t>setelah</a:t>
            </a:r>
            <a:r>
              <a:rPr lang="en-US" dirty="0" smtClean="0"/>
              <a:t> </a:t>
            </a:r>
            <a:r>
              <a:rPr lang="en-US" dirty="0"/>
              <a:t>proses </a:t>
            </a:r>
            <a:r>
              <a:rPr lang="en-US" dirty="0" err="1"/>
              <a:t>penggantian</a:t>
            </a:r>
            <a:r>
              <a:rPr lang="en-US" dirty="0"/>
              <a:t> bit </a:t>
            </a:r>
            <a:r>
              <a:rPr lang="en-US" i="1" dirty="0"/>
              <a:t>LSB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i="1" dirty="0"/>
              <a:t>bitmap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3 </a:t>
            </a:r>
            <a:r>
              <a:rPr lang="en-US" i="1" dirty="0"/>
              <a:t>byte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3 bit </a:t>
            </a:r>
            <a:r>
              <a:rPr lang="en-US" i="1" dirty="0"/>
              <a:t>LSB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penggantian</a:t>
            </a:r>
            <a:r>
              <a:rPr lang="en-US" dirty="0"/>
              <a:t>.</a:t>
            </a:r>
          </a:p>
          <a:p>
            <a:r>
              <a:rPr lang="en-US" dirty="0" err="1"/>
              <a:t>Penggantian</a:t>
            </a:r>
            <a:r>
              <a:rPr lang="en-US" dirty="0"/>
              <a:t> 3 bit </a:t>
            </a:r>
            <a:r>
              <a:rPr lang="en-US" i="1" dirty="0"/>
              <a:t>LSB </a:t>
            </a:r>
            <a:r>
              <a:rPr lang="en-US" dirty="0" err="1"/>
              <a:t>menghasilkan</a:t>
            </a:r>
            <a:r>
              <a:rPr lang="en-US" dirty="0"/>
              <a:t> 2</a:t>
            </a:r>
            <a:r>
              <a:rPr lang="en-US" baseline="30000" dirty="0"/>
              <a:t>3</a:t>
            </a:r>
            <a:r>
              <a:rPr lang="en-US" dirty="0"/>
              <a:t> = 8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demikian</a:t>
            </a:r>
            <a:r>
              <a:rPr lang="en-US" dirty="0" smtClean="0"/>
              <a:t>, </a:t>
            </a:r>
            <a:r>
              <a:rPr lang="en-US" dirty="0" err="1" smtClean="0"/>
              <a:t>steganografi</a:t>
            </a:r>
            <a:r>
              <a:rPr lang="en-US" dirty="0" smtClean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256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berpotensi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256 </a:t>
            </a:r>
            <a:r>
              <a:rPr lang="en-US" dirty="0" smtClean="0"/>
              <a:t>x 8 </a:t>
            </a:r>
            <a:r>
              <a:rPr lang="en-US" dirty="0"/>
              <a:t>= </a:t>
            </a:r>
            <a:r>
              <a:rPr lang="en-US" dirty="0" smtClean="0"/>
              <a:t>2048 </a:t>
            </a:r>
            <a:r>
              <a:rPr lang="en-US" dirty="0" err="1" smtClean="0"/>
              <a:t>warna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51881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1"/>
            <a:ext cx="81534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menghindari</a:t>
            </a:r>
            <a:r>
              <a:rPr lang="en-US" dirty="0"/>
              <a:t> </a:t>
            </a:r>
            <a:r>
              <a:rPr lang="en-US" dirty="0" err="1"/>
              <a:t>kelebihan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256,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smtClean="0"/>
              <a:t>proses </a:t>
            </a:r>
            <a:r>
              <a:rPr lang="en-US" dirty="0" err="1" smtClean="0"/>
              <a:t>penyembunyian</a:t>
            </a:r>
            <a:r>
              <a:rPr lang="en-US" dirty="0" smtClean="0"/>
              <a:t> </a:t>
            </a:r>
            <a:r>
              <a:rPr lang="en-US" dirty="0"/>
              <a:t>data,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8-bit </a:t>
            </a:r>
            <a:r>
              <a:rPr lang="en-US" dirty="0" err="1"/>
              <a:t>diturunkan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smtClean="0"/>
              <a:t>32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warnanya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32,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 smtClean="0"/>
              <a:t>penurunan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/>
              <a:t>demikian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8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,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/>
              <a:t>seluruhnya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32 ´ 8 = 256 </a:t>
            </a:r>
            <a:r>
              <a:rPr lang="en-US" dirty="0" err="1"/>
              <a:t>warna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kuantisasi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(</a:t>
            </a:r>
            <a:r>
              <a:rPr lang="en-US" i="1" dirty="0" smtClean="0"/>
              <a:t>color quantization</a:t>
            </a:r>
            <a:r>
              <a:rPr lang="en-US" dirty="0"/>
              <a:t>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Penurunan</a:t>
            </a:r>
            <a:r>
              <a:rPr lang="en-US" dirty="0" smtClean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tampak</a:t>
            </a:r>
            <a:r>
              <a:rPr lang="en-US" dirty="0" smtClean="0"/>
              <a:t> </a:t>
            </a:r>
            <a:r>
              <a:rPr lang="en-US" dirty="0" err="1"/>
              <a:t>persis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semula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/>
              <a:t>kuantisasi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buah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i="1" dirty="0"/>
              <a:t>diversity 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Prinsip</a:t>
            </a:r>
            <a:r>
              <a:rPr lang="en-US" dirty="0" smtClean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i="1" dirty="0"/>
              <a:t>diversity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memaksimumkan</a:t>
            </a:r>
            <a:r>
              <a:rPr lang="en-US" dirty="0" smtClean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75614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i="1" dirty="0" smtClean="0"/>
              <a:t>Diversity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1"/>
            <a:ext cx="8153400" cy="5638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i="1" dirty="0"/>
              <a:t>Diversity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 err="1" smtClean="0"/>
              <a:t>Buat</a:t>
            </a:r>
            <a:r>
              <a:rPr lang="en-US" dirty="0" smtClean="0"/>
              <a:t> </a:t>
            </a:r>
            <a:r>
              <a:rPr lang="en-US" dirty="0"/>
              <a:t>histogram </a:t>
            </a:r>
            <a:r>
              <a:rPr lang="en-US" dirty="0" err="1"/>
              <a:t>citra</a:t>
            </a:r>
            <a:r>
              <a:rPr lang="en-US" dirty="0"/>
              <a:t>.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kemunculannya</a:t>
            </a:r>
            <a:r>
              <a:rPr lang="en-US" dirty="0"/>
              <a:t> 0 </a:t>
            </a:r>
            <a:r>
              <a:rPr lang="en-US" dirty="0" err="1"/>
              <a:t>dibuang</a:t>
            </a:r>
            <a:r>
              <a:rPr lang="en-US" dirty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kemunculan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patokan</a:t>
            </a:r>
            <a:r>
              <a:rPr lang="en-US" dirty="0" smtClean="0"/>
              <a:t>. </a:t>
            </a:r>
            <a:r>
              <a:rPr lang="en-US" dirty="0" err="1" smtClean="0"/>
              <a:t>Masukkan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senarai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 err="1" smtClean="0"/>
              <a:t>terpilih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Cari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terjauh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patokan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senarai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terpilih</a:t>
            </a:r>
            <a:r>
              <a:rPr lang="en-US" dirty="0"/>
              <a:t>.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dua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Euclidean:</a:t>
            </a:r>
          </a:p>
          <a:p>
            <a:pPr marL="0" indent="0">
              <a:buNone/>
            </a:pPr>
            <a:r>
              <a:rPr lang="pt-BR" i="1" dirty="0"/>
              <a:t>d </a:t>
            </a:r>
            <a:r>
              <a:rPr lang="pt-BR" dirty="0"/>
              <a:t>= { (</a:t>
            </a:r>
            <a:r>
              <a:rPr lang="pt-BR" i="1" dirty="0"/>
              <a:t>r</a:t>
            </a:r>
            <a:r>
              <a:rPr lang="pt-BR" dirty="0"/>
              <a:t>1 – </a:t>
            </a:r>
            <a:r>
              <a:rPr lang="pt-BR" i="1" dirty="0"/>
              <a:t>r</a:t>
            </a:r>
            <a:r>
              <a:rPr lang="pt-BR" dirty="0"/>
              <a:t>2)</a:t>
            </a:r>
            <a:r>
              <a:rPr lang="pt-BR" baseline="30000" dirty="0"/>
              <a:t>2</a:t>
            </a:r>
            <a:r>
              <a:rPr lang="pt-BR" dirty="0"/>
              <a:t> + (</a:t>
            </a:r>
            <a:r>
              <a:rPr lang="pt-BR" i="1" dirty="0"/>
              <a:t>g</a:t>
            </a:r>
            <a:r>
              <a:rPr lang="pt-BR" dirty="0"/>
              <a:t>1 – </a:t>
            </a:r>
            <a:r>
              <a:rPr lang="pt-BR" i="1" dirty="0"/>
              <a:t>g</a:t>
            </a:r>
            <a:r>
              <a:rPr lang="pt-BR" dirty="0"/>
              <a:t>2)</a:t>
            </a:r>
            <a:r>
              <a:rPr lang="pt-BR" baseline="30000" dirty="0"/>
              <a:t>2</a:t>
            </a:r>
            <a:r>
              <a:rPr lang="pt-BR" dirty="0"/>
              <a:t> + (</a:t>
            </a:r>
            <a:r>
              <a:rPr lang="pt-BR" i="1" dirty="0"/>
              <a:t>b</a:t>
            </a:r>
            <a:r>
              <a:rPr lang="pt-BR" dirty="0"/>
              <a:t>1 – </a:t>
            </a:r>
            <a:r>
              <a:rPr lang="pt-BR" i="1" dirty="0"/>
              <a:t>b</a:t>
            </a:r>
            <a:r>
              <a:rPr lang="pt-BR" dirty="0"/>
              <a:t>2)</a:t>
            </a:r>
            <a:r>
              <a:rPr lang="pt-BR" baseline="30000" dirty="0"/>
              <a:t>2</a:t>
            </a:r>
            <a:r>
              <a:rPr lang="pt-BR" dirty="0"/>
              <a:t> }</a:t>
            </a:r>
            <a:r>
              <a:rPr lang="pt-BR" baseline="30000" dirty="0"/>
              <a:t>1/2</a:t>
            </a:r>
          </a:p>
          <a:p>
            <a:pPr marL="0" indent="0">
              <a:buNone/>
            </a:pPr>
            <a:r>
              <a:rPr lang="en-US" dirty="0"/>
              <a:t>yang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dirty="0"/>
              <a:t>1, </a:t>
            </a:r>
            <a:r>
              <a:rPr lang="en-US" i="1" dirty="0"/>
              <a:t>g</a:t>
            </a:r>
            <a:r>
              <a:rPr lang="en-US" dirty="0"/>
              <a:t>1,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1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i="1" dirty="0"/>
              <a:t>RGB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2, </a:t>
            </a:r>
            <a:r>
              <a:rPr lang="en-US" i="1" dirty="0"/>
              <a:t>g</a:t>
            </a:r>
            <a:r>
              <a:rPr lang="en-US" dirty="0"/>
              <a:t>2,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b</a:t>
            </a:r>
            <a:r>
              <a:rPr lang="en-US" dirty="0"/>
              <a:t>2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i="1" dirty="0"/>
              <a:t>RGB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tersisa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i="1" dirty="0"/>
              <a:t>list</a:t>
            </a:r>
            <a:r>
              <a:rPr lang="en-US" dirty="0"/>
              <a:t>,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jaraknya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 smtClean="0"/>
              <a:t>masingmasing</a:t>
            </a:r>
            <a:r>
              <a:rPr lang="en-US" dirty="0" smtClean="0"/>
              <a:t> </a:t>
            </a:r>
            <a:r>
              <a:rPr lang="en-US" dirty="0" err="1" smtClean="0"/>
              <a:t>warna</a:t>
            </a:r>
            <a:r>
              <a:rPr lang="en-US" dirty="0" smtClean="0"/>
              <a:t>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senarai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terpilih</a:t>
            </a:r>
            <a:r>
              <a:rPr lang="en-US" dirty="0"/>
              <a:t>. </a:t>
            </a: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paling </a:t>
            </a:r>
            <a:r>
              <a:rPr lang="en-US" dirty="0" err="1" smtClean="0"/>
              <a:t>jauh</a:t>
            </a:r>
            <a:r>
              <a:rPr lang="en-US" dirty="0" smtClean="0"/>
              <a:t> </a:t>
            </a:r>
            <a:r>
              <a:rPr lang="en-US" dirty="0" err="1" smtClean="0"/>
              <a:t>berbeda</a:t>
            </a:r>
            <a:r>
              <a:rPr lang="en-US" dirty="0" smtClean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.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4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 smtClean="0"/>
              <a:t>berulang</a:t>
            </a:r>
            <a:r>
              <a:rPr lang="en-US" dirty="0" smtClean="0"/>
              <a:t> kali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i="1" dirty="0"/>
              <a:t>k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terpilih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16714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68285" y="2087940"/>
            <a:ext cx="6514869" cy="385566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n-US" sz="7200" dirty="0" err="1" smtClean="0"/>
              <a:t>Ukuran</a:t>
            </a:r>
            <a:r>
              <a:rPr lang="en-US" sz="7200" dirty="0" smtClean="0"/>
              <a:t> Data Yang </a:t>
            </a:r>
            <a:r>
              <a:rPr lang="en-US" sz="7200" dirty="0" err="1" smtClean="0"/>
              <a:t>Disembunyikan</a:t>
            </a:r>
            <a:r>
              <a:rPr lang="en-US" sz="7200" dirty="0" smtClean="0"/>
              <a:t> </a:t>
            </a:r>
            <a:r>
              <a:rPr lang="en-US" sz="7200" dirty="0" err="1" smtClean="0"/>
              <a:t>dan</a:t>
            </a:r>
            <a:r>
              <a:rPr lang="en-US" sz="7200" dirty="0" smtClean="0"/>
              <a:t> </a:t>
            </a:r>
            <a:r>
              <a:rPr lang="en-US" sz="7200" dirty="0" err="1" smtClean="0"/>
              <a:t>Pengungkapan</a:t>
            </a:r>
            <a:r>
              <a:rPr lang="en-US" sz="7200" dirty="0" smtClean="0"/>
              <a:t> Data</a:t>
            </a:r>
            <a:endParaRPr lang="en-US" sz="7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53000" y="0"/>
            <a:ext cx="7765662" cy="1647612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Ukuran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153400" cy="5109187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Ukuran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penampung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8-bit yang </a:t>
            </a:r>
            <a:r>
              <a:rPr lang="en-US" dirty="0" err="1"/>
              <a:t>berukuran</a:t>
            </a:r>
            <a:r>
              <a:rPr lang="en-US" dirty="0"/>
              <a:t> 256 </a:t>
            </a:r>
            <a:r>
              <a:rPr lang="en-US" dirty="0" smtClean="0"/>
              <a:t>* </a:t>
            </a:r>
            <a:r>
              <a:rPr lang="en-US" dirty="0"/>
              <a:t>256 </a:t>
            </a:r>
            <a:r>
              <a:rPr lang="en-US" i="1" dirty="0"/>
              <a:t>pixel </a:t>
            </a:r>
            <a:r>
              <a:rPr lang="en-US" dirty="0" err="1"/>
              <a:t>terdapat</a:t>
            </a:r>
            <a:r>
              <a:rPr lang="en-US" dirty="0"/>
              <a:t> 65536 </a:t>
            </a:r>
            <a:r>
              <a:rPr lang="en-US" i="1" dirty="0"/>
              <a:t>pixel</a:t>
            </a:r>
            <a:r>
              <a:rPr lang="en-US" dirty="0"/>
              <a:t>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i="1" dirty="0" smtClean="0"/>
              <a:t>pixel </a:t>
            </a:r>
            <a:r>
              <a:rPr lang="en-US" dirty="0" err="1" smtClean="0"/>
              <a:t>berukuran</a:t>
            </a:r>
            <a:r>
              <a:rPr lang="en-US" dirty="0" smtClean="0"/>
              <a:t> </a:t>
            </a:r>
            <a:r>
              <a:rPr lang="en-US" dirty="0"/>
              <a:t>1 </a:t>
            </a:r>
            <a:r>
              <a:rPr lang="en-US" i="1" dirty="0"/>
              <a:t>byte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menajdi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24-bit, </a:t>
            </a:r>
            <a:r>
              <a:rPr lang="en-US" dirty="0" err="1"/>
              <a:t>ukuran</a:t>
            </a:r>
            <a:r>
              <a:rPr lang="en-US" dirty="0"/>
              <a:t> data </a:t>
            </a:r>
            <a:r>
              <a:rPr lang="en-US" dirty="0" smtClean="0"/>
              <a:t>bitmap </a:t>
            </a:r>
            <a:r>
              <a:rPr lang="sv-SE" dirty="0" smtClean="0"/>
              <a:t>menjadi </a:t>
            </a:r>
            <a:r>
              <a:rPr lang="sv-SE" dirty="0"/>
              <a:t>65536 ´ 3 = 196608 </a:t>
            </a:r>
            <a:r>
              <a:rPr lang="sv-SE" i="1" dirty="0"/>
              <a:t>byte</a:t>
            </a:r>
            <a:r>
              <a:rPr lang="sv-SE" dirty="0"/>
              <a:t>. Karena setiap </a:t>
            </a:r>
            <a:r>
              <a:rPr lang="sv-SE" i="1" dirty="0"/>
              <a:t>byte </a:t>
            </a:r>
            <a:r>
              <a:rPr lang="sv-SE" dirty="0"/>
              <a:t>hanya </a:t>
            </a:r>
            <a:r>
              <a:rPr lang="sv-SE" dirty="0" smtClean="0"/>
              <a:t>bisa </a:t>
            </a:r>
            <a:r>
              <a:rPr lang="en-US" dirty="0" err="1" smtClean="0"/>
              <a:t>menyembunyikan</a:t>
            </a:r>
            <a:r>
              <a:rPr lang="en-US" dirty="0" smtClean="0"/>
              <a:t> </a:t>
            </a:r>
            <a:r>
              <a:rPr lang="en-US" dirty="0" err="1"/>
              <a:t>satu</a:t>
            </a:r>
            <a:r>
              <a:rPr lang="en-US" dirty="0"/>
              <a:t> bit di </a:t>
            </a:r>
            <a:r>
              <a:rPr lang="en-US" i="1" dirty="0"/>
              <a:t>LSB</a:t>
            </a:r>
            <a:r>
              <a:rPr lang="en-US" dirty="0"/>
              <a:t>-</a:t>
            </a:r>
            <a:r>
              <a:rPr lang="en-US" dirty="0" err="1"/>
              <a:t>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data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disembunyikan</a:t>
            </a:r>
            <a:r>
              <a:rPr lang="en-US" dirty="0" smtClean="0"/>
              <a:t>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196608/8 = 24576 </a:t>
            </a:r>
            <a:r>
              <a:rPr lang="en-US" i="1" dirty="0"/>
              <a:t>byte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Ukuran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/>
              <a:t>dikurangi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berkas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penyembunyian</a:t>
            </a:r>
            <a:r>
              <a:rPr lang="en-US" dirty="0"/>
              <a:t> </a:t>
            </a:r>
            <a:r>
              <a:rPr lang="en-US" dirty="0" smtClean="0"/>
              <a:t>data </a:t>
            </a:r>
            <a:r>
              <a:rPr lang="en-US" dirty="0" err="1" smtClean="0"/>
              <a:t>rahasia</a:t>
            </a:r>
            <a:r>
              <a:rPr lang="en-US" dirty="0" smtClean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menyembunyikan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berkasnya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data </a:t>
            </a:r>
            <a:r>
              <a:rPr lang="en-US" dirty="0" err="1"/>
              <a:t>disembunyikan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,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smtClean="0"/>
              <a:t>pula </a:t>
            </a:r>
            <a:r>
              <a:rPr lang="en-US" dirty="0" err="1" smtClean="0"/>
              <a:t>kemungkinan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rusak</a:t>
            </a:r>
            <a:r>
              <a:rPr lang="en-US" dirty="0"/>
              <a:t>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penampung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69382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Pengungkapan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153400" cy="503298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 yang </a:t>
            </a:r>
            <a:r>
              <a:rPr lang="en-US" dirty="0" err="1"/>
              <a:t>disembunyikan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cara</a:t>
            </a:r>
            <a:r>
              <a:rPr lang="en-US" dirty="0" smtClean="0"/>
              <a:t> </a:t>
            </a:r>
            <a:r>
              <a:rPr lang="en-US" dirty="0" err="1" smtClean="0"/>
              <a:t>pengungkapan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i="1" dirty="0"/>
              <a:t>reveal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extraction</a:t>
            </a:r>
            <a:r>
              <a:rPr lang="en-US" dirty="0"/>
              <a:t>).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Posisi</a:t>
            </a:r>
            <a:r>
              <a:rPr lang="en-US" dirty="0" smtClean="0"/>
              <a:t> </a:t>
            </a:r>
            <a:r>
              <a:rPr lang="en-US" i="1" dirty="0"/>
              <a:t>byte </a:t>
            </a:r>
            <a:r>
              <a:rPr lang="en-US" dirty="0"/>
              <a:t>yang </a:t>
            </a:r>
            <a:r>
              <a:rPr lang="en-US" dirty="0" err="1"/>
              <a:t>menyimpan</a:t>
            </a:r>
            <a:r>
              <a:rPr lang="en-US" dirty="0"/>
              <a:t> bit </a:t>
            </a:r>
            <a:r>
              <a:rPr lang="en-US" dirty="0" smtClean="0"/>
              <a:t>data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yang </a:t>
            </a:r>
            <a:r>
              <a:rPr lang="en-US" dirty="0" err="1"/>
              <a:t>dibangkitkan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i="1" dirty="0"/>
              <a:t>PRNG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/>
              <a:t>kriptografi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proses </a:t>
            </a:r>
            <a:r>
              <a:rPr lang="en-US" dirty="0" err="1"/>
              <a:t>enkripsi</a:t>
            </a:r>
            <a:r>
              <a:rPr lang="en-US" dirty="0" smtClean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/>
              <a:t>kunci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membangkitkan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Bilangan</a:t>
            </a:r>
            <a:r>
              <a:rPr lang="en-US" dirty="0" smtClean="0"/>
              <a:t> </a:t>
            </a:r>
            <a:r>
              <a:rPr lang="en-US" dirty="0" err="1" smtClean="0"/>
              <a:t>acak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yang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nn-NO" dirty="0" smtClean="0"/>
              <a:t>penyembunyian </a:t>
            </a:r>
            <a:r>
              <a:rPr lang="nn-NO" dirty="0"/>
              <a:t>data. </a:t>
            </a:r>
            <a:endParaRPr lang="nn-NO" dirty="0" smtClean="0"/>
          </a:p>
          <a:p>
            <a:endParaRPr lang="nn-NO" dirty="0" smtClean="0"/>
          </a:p>
          <a:p>
            <a:r>
              <a:rPr lang="nn-NO" dirty="0" smtClean="0"/>
              <a:t>Dengan </a:t>
            </a:r>
            <a:r>
              <a:rPr lang="nn-NO" dirty="0"/>
              <a:t>demikian, bit-bit data rahasia yang bertaburan </a:t>
            </a:r>
            <a:r>
              <a:rPr lang="nn-NO" dirty="0" smtClean="0"/>
              <a:t>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dikumpulkan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63125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362200" y="2087940"/>
            <a:ext cx="6172200" cy="40842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7200" dirty="0" smtClean="0"/>
              <a:t>Watermarking</a:t>
            </a:r>
            <a:endParaRPr lang="en-US" sz="7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63332" y="-6858000"/>
            <a:ext cx="7765662" cy="16476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0753331" flipH="1">
            <a:off x="-316180" y="3775286"/>
            <a:ext cx="2895600" cy="339048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Pendahuluan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153400" cy="495678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melindungi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 multimedia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 smtClean="0"/>
              <a:t>menyisipkan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multimedia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i="1" dirty="0"/>
              <a:t>watermarking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disisipkan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multimedia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i="1" dirty="0" smtClean="0"/>
              <a:t>watermark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sidik</a:t>
            </a:r>
            <a:r>
              <a:rPr lang="en-US" dirty="0"/>
              <a:t> digital (</a:t>
            </a:r>
            <a:r>
              <a:rPr lang="en-US" i="1" dirty="0"/>
              <a:t>digital signature</a:t>
            </a:r>
            <a:r>
              <a:rPr lang="en-US" dirty="0"/>
              <a:t>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 smtClean="0"/>
              <a:t>pemilik</a:t>
            </a:r>
            <a:r>
              <a:rPr lang="en-US" dirty="0" smtClean="0"/>
              <a:t> yang </a:t>
            </a:r>
            <a:r>
              <a:rPr lang="en-US" dirty="0" err="1"/>
              <a:t>sah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multimedia </a:t>
            </a:r>
            <a:r>
              <a:rPr lang="en-US" dirty="0" err="1"/>
              <a:t>tersebut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/>
              <a:t>kata lain, </a:t>
            </a:r>
            <a:r>
              <a:rPr lang="en-US" i="1" dirty="0"/>
              <a:t>watermark </a:t>
            </a:r>
            <a:r>
              <a:rPr lang="en-US" dirty="0" smtClean="0"/>
              <a:t>yang </a:t>
            </a:r>
            <a:r>
              <a:rPr lang="en-US" dirty="0" err="1" smtClean="0"/>
              <a:t>disisipkan</a:t>
            </a:r>
            <a:r>
              <a:rPr lang="en-US" dirty="0" smtClean="0"/>
              <a:t> </a:t>
            </a:r>
            <a:r>
              <a:rPr lang="en-US" dirty="0" err="1"/>
              <a:t>menjadi</a:t>
            </a:r>
            <a:r>
              <a:rPr lang="en-US" dirty="0"/>
              <a:t> label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pemiliknya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Pemberian</a:t>
            </a:r>
            <a:r>
              <a:rPr lang="en-US" dirty="0" smtClean="0"/>
              <a:t> </a:t>
            </a:r>
            <a:r>
              <a:rPr lang="en-US" i="1" dirty="0"/>
              <a:t>signature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i="1" dirty="0"/>
              <a:t>watermarking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disisipkan</a:t>
            </a:r>
            <a:r>
              <a:rPr lang="en-US" dirty="0" smtClean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merusak</a:t>
            </a:r>
            <a:r>
              <a:rPr lang="en-US" dirty="0"/>
              <a:t> data digital yang </a:t>
            </a:r>
            <a:r>
              <a:rPr lang="en-US" dirty="0" err="1"/>
              <a:t>dilindungi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Sehingga</a:t>
            </a:r>
            <a:r>
              <a:rPr lang="en-US" dirty="0"/>
              <a:t>,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membuka</a:t>
            </a:r>
            <a:r>
              <a:rPr lang="en-US" dirty="0" smtClean="0"/>
              <a:t> </a:t>
            </a:r>
            <a:r>
              <a:rPr lang="en-US" dirty="0" err="1"/>
              <a:t>produk</a:t>
            </a:r>
            <a:r>
              <a:rPr lang="en-US" dirty="0"/>
              <a:t> multimedia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disisipi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 smtClean="0"/>
              <a:t>menyadari</a:t>
            </a:r>
            <a:r>
              <a:rPr lang="en-US" dirty="0" smtClean="0"/>
              <a:t> </a:t>
            </a:r>
            <a:r>
              <a:rPr lang="en-US" dirty="0" err="1" smtClean="0"/>
              <a:t>kalau</a:t>
            </a:r>
            <a:r>
              <a:rPr lang="en-US" dirty="0" smtClean="0"/>
              <a:t> </a:t>
            </a:r>
            <a:r>
              <a:rPr lang="en-US" dirty="0"/>
              <a:t>di </a:t>
            </a:r>
            <a:r>
              <a:rPr lang="en-US" dirty="0" err="1"/>
              <a:t>dalam</a:t>
            </a:r>
            <a:r>
              <a:rPr lang="en-US" dirty="0"/>
              <a:t> data multimedia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terkandung</a:t>
            </a:r>
            <a:r>
              <a:rPr lang="en-US" dirty="0"/>
              <a:t> label </a:t>
            </a:r>
            <a:r>
              <a:rPr lang="en-US" dirty="0" err="1"/>
              <a:t>kepemilikan</a:t>
            </a:r>
            <a:r>
              <a:rPr lang="en-US" dirty="0"/>
              <a:t> </a:t>
            </a:r>
            <a:r>
              <a:rPr lang="en-US" dirty="0" err="1"/>
              <a:t>pembuatnya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043339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38201"/>
            <a:ext cx="8077200" cy="5055576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orang lain yang </a:t>
            </a:r>
            <a:r>
              <a:rPr lang="en-US" dirty="0" err="1"/>
              <a:t>mengklaim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multimedia </a:t>
            </a:r>
            <a:r>
              <a:rPr lang="en-US" dirty="0" smtClean="0"/>
              <a:t>yang </a:t>
            </a:r>
            <a:r>
              <a:rPr lang="sv-SE" dirty="0" smtClean="0"/>
              <a:t>didapatkannya </a:t>
            </a:r>
            <a:r>
              <a:rPr lang="sv-SE" dirty="0"/>
              <a:t>adalah miliknya, maka pemegang hak cipta atas karya </a:t>
            </a:r>
            <a:r>
              <a:rPr lang="sv-SE" dirty="0" smtClean="0"/>
              <a:t>multimedia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membantahnya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mengekstraksi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smtClean="0"/>
              <a:t>data multimedia </a:t>
            </a:r>
            <a:r>
              <a:rPr lang="en-US" dirty="0"/>
              <a:t>yang </a:t>
            </a:r>
            <a:r>
              <a:rPr lang="en-US" dirty="0" err="1"/>
              <a:t>disengketakan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i="1" dirty="0" smtClean="0"/>
              <a:t>Watermark </a:t>
            </a:r>
            <a:r>
              <a:rPr lang="en-US" dirty="0"/>
              <a:t>yang </a:t>
            </a:r>
            <a:r>
              <a:rPr lang="en-US" dirty="0" err="1"/>
              <a:t>diekstraksi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i="1" dirty="0" smtClean="0"/>
              <a:t>watermark </a:t>
            </a:r>
            <a:r>
              <a:rPr lang="en-US" dirty="0" err="1"/>
              <a:t>pemegang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memang</a:t>
            </a:r>
            <a:r>
              <a:rPr lang="en-US" dirty="0"/>
              <a:t> </a:t>
            </a:r>
            <a:r>
              <a:rPr lang="en-US" dirty="0" err="1"/>
              <a:t>dialah</a:t>
            </a:r>
            <a:r>
              <a:rPr lang="en-US" dirty="0"/>
              <a:t> </a:t>
            </a:r>
            <a:r>
              <a:rPr lang="en-US" dirty="0" err="1"/>
              <a:t>pemegang</a:t>
            </a:r>
            <a:r>
              <a:rPr lang="en-US" dirty="0"/>
              <a:t> </a:t>
            </a:r>
            <a:r>
              <a:rPr lang="en-US" dirty="0" err="1" smtClean="0"/>
              <a:t>hakcipta</a:t>
            </a:r>
            <a:r>
              <a:rPr lang="en-US" dirty="0" smtClean="0"/>
              <a:t> </a:t>
            </a:r>
            <a:r>
              <a:rPr lang="en-US" dirty="0" err="1"/>
              <a:t>produk</a:t>
            </a:r>
            <a:r>
              <a:rPr lang="en-US" dirty="0"/>
              <a:t> multimedia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153517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8077200" cy="505557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dasarnya</a:t>
            </a:r>
            <a:r>
              <a:rPr lang="en-US" dirty="0"/>
              <a:t>,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i="1" dirty="0"/>
              <a:t>watermarking </a:t>
            </a:r>
            <a:r>
              <a:rPr lang="en-US" dirty="0" err="1"/>
              <a:t>adalah</a:t>
            </a:r>
            <a:r>
              <a:rPr lang="en-US" dirty="0"/>
              <a:t> proses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 smtClean="0"/>
              <a:t>identifikasi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/>
              <a:t>permanen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digital.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/>
              <a:t>identifikasi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 smtClean="0"/>
              <a:t>berupa</a:t>
            </a:r>
            <a:r>
              <a:rPr lang="en-US" dirty="0" smtClean="0"/>
              <a:t> </a:t>
            </a:r>
            <a:r>
              <a:rPr lang="en-US" dirty="0" err="1" smtClean="0"/>
              <a:t>teks</a:t>
            </a:r>
            <a:r>
              <a:rPr lang="en-US" dirty="0"/>
              <a:t>, </a:t>
            </a:r>
            <a:r>
              <a:rPr lang="en-US" dirty="0" err="1"/>
              <a:t>gambar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video.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Selain</a:t>
            </a:r>
            <a:r>
              <a:rPr lang="en-US" dirty="0" smtClean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merusak</a:t>
            </a:r>
            <a:r>
              <a:rPr lang="en-US" dirty="0"/>
              <a:t> data digital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/>
              <a:t>dilindungi</a:t>
            </a:r>
            <a:r>
              <a:rPr lang="en-US" dirty="0"/>
              <a:t>, </a:t>
            </a:r>
            <a:r>
              <a:rPr lang="en-US" dirty="0" err="1"/>
              <a:t>kode</a:t>
            </a:r>
            <a:r>
              <a:rPr lang="en-US" dirty="0"/>
              <a:t> yang </a:t>
            </a:r>
            <a:r>
              <a:rPr lang="en-US" dirty="0" err="1"/>
              <a:t>disisipkan</a:t>
            </a:r>
            <a:r>
              <a:rPr lang="en-US" dirty="0"/>
              <a:t> </a:t>
            </a:r>
            <a:r>
              <a:rPr lang="en-US" dirty="0" err="1"/>
              <a:t>seharusnya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ketahanan</a:t>
            </a:r>
            <a:r>
              <a:rPr lang="en-US" dirty="0"/>
              <a:t> (</a:t>
            </a:r>
            <a:r>
              <a:rPr lang="en-US" i="1" dirty="0"/>
              <a:t>robustness</a:t>
            </a:r>
            <a:r>
              <a:rPr lang="en-US" dirty="0" smtClean="0"/>
              <a:t>)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pemrosesan</a:t>
            </a:r>
            <a:r>
              <a:rPr lang="en-US" dirty="0"/>
              <a:t> </a:t>
            </a:r>
            <a:r>
              <a:rPr lang="en-US" dirty="0" err="1"/>
              <a:t>lanjutan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pengubahan</a:t>
            </a:r>
            <a:r>
              <a:rPr lang="en-US" dirty="0"/>
              <a:t>, </a:t>
            </a:r>
            <a:r>
              <a:rPr lang="en-US" dirty="0" err="1" smtClean="0"/>
              <a:t>transformasi</a:t>
            </a:r>
            <a:r>
              <a:rPr lang="en-US" dirty="0" smtClean="0"/>
              <a:t> </a:t>
            </a:r>
            <a:r>
              <a:rPr lang="en-US" dirty="0" err="1"/>
              <a:t>geometri</a:t>
            </a:r>
            <a:r>
              <a:rPr lang="en-US" dirty="0" smtClean="0"/>
              <a:t>, </a:t>
            </a:r>
            <a:r>
              <a:rPr lang="en-US" dirty="0" err="1" smtClean="0"/>
              <a:t>kompresi</a:t>
            </a:r>
            <a:r>
              <a:rPr lang="en-US" dirty="0"/>
              <a:t>, </a:t>
            </a:r>
            <a:r>
              <a:rPr lang="en-US" dirty="0" err="1"/>
              <a:t>enkripsi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sebagainya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i="1" dirty="0"/>
              <a:t>robustness </a:t>
            </a:r>
            <a:r>
              <a:rPr lang="en-US" dirty="0" err="1"/>
              <a:t>berarti</a:t>
            </a:r>
            <a:r>
              <a:rPr lang="en-US" dirty="0"/>
              <a:t> data </a:t>
            </a:r>
            <a:r>
              <a:rPr lang="en-US" i="1" dirty="0"/>
              <a:t>watermark </a:t>
            </a:r>
            <a:r>
              <a:rPr lang="en-US" dirty="0" err="1" smtClean="0"/>
              <a:t>tidakterhapus</a:t>
            </a:r>
            <a:r>
              <a:rPr lang="en-US" dirty="0" smtClean="0"/>
              <a:t> 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pemrosesan</a:t>
            </a:r>
            <a:r>
              <a:rPr lang="en-US" dirty="0"/>
              <a:t> </a:t>
            </a:r>
            <a:r>
              <a:rPr lang="en-US" dirty="0" err="1"/>
              <a:t>lanjutan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/>
          <a:lstStyle/>
          <a:p>
            <a:r>
              <a:rPr lang="en-US" dirty="0" smtClean="0"/>
              <a:t>Watermarking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6129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Perbedaan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Steganografi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7924800" cy="4956787"/>
          </a:xfrm>
        </p:spPr>
        <p:txBody>
          <a:bodyPr>
            <a:normAutofit fontScale="62500" lnSpcReduction="20000"/>
          </a:bodyPr>
          <a:lstStyle/>
          <a:p>
            <a:r>
              <a:rPr lang="en-US" i="1" dirty="0"/>
              <a:t>Watermarking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steganografi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keduanya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steganografi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rahasia</a:t>
            </a:r>
            <a:r>
              <a:rPr lang="en-US" dirty="0"/>
              <a:t> </a:t>
            </a:r>
            <a:r>
              <a:rPr lang="en-US" dirty="0" err="1"/>
              <a:t>disembunyikan</a:t>
            </a:r>
            <a:r>
              <a:rPr lang="en-US" dirty="0"/>
              <a:t> di </a:t>
            </a:r>
            <a:r>
              <a:rPr lang="en-US" dirty="0" err="1" smtClean="0"/>
              <a:t>dalam</a:t>
            </a:r>
            <a:r>
              <a:rPr lang="en-US" dirty="0" smtClean="0"/>
              <a:t> media </a:t>
            </a:r>
            <a:r>
              <a:rPr lang="en-US" dirty="0"/>
              <a:t>digital </a:t>
            </a:r>
            <a:r>
              <a:rPr lang="en-US" dirty="0" err="1"/>
              <a:t>dimana</a:t>
            </a:r>
            <a:r>
              <a:rPr lang="en-US" dirty="0"/>
              <a:t> media </a:t>
            </a:r>
            <a:r>
              <a:rPr lang="en-US" dirty="0" err="1"/>
              <a:t>penampung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apa-apa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i="1" dirty="0" smtClean="0"/>
              <a:t>watermarking </a:t>
            </a:r>
            <a:r>
              <a:rPr lang="en-US" dirty="0" err="1"/>
              <a:t>justru</a:t>
            </a:r>
            <a:r>
              <a:rPr lang="en-US" dirty="0"/>
              <a:t> media digital </a:t>
            </a:r>
            <a:r>
              <a:rPr lang="en-US" dirty="0" err="1"/>
              <a:t>tersebut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dilindungi</a:t>
            </a:r>
            <a:r>
              <a:rPr lang="en-US" dirty="0"/>
              <a:t> </a:t>
            </a:r>
            <a:r>
              <a:rPr lang="en-US" dirty="0" err="1" smtClean="0"/>
              <a:t>kepemilikannya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/>
              <a:t>pemberian</a:t>
            </a:r>
            <a:r>
              <a:rPr lang="en-US" dirty="0"/>
              <a:t> label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 (</a:t>
            </a:r>
            <a:r>
              <a:rPr lang="en-US" i="1" dirty="0"/>
              <a:t>watermark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steganografi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watermarking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 smtClean="0"/>
              <a:t>prinsip</a:t>
            </a:r>
            <a:r>
              <a:rPr lang="en-US" dirty="0" smtClean="0"/>
              <a:t> proses </a:t>
            </a:r>
            <a:r>
              <a:rPr lang="en-US" dirty="0" err="1"/>
              <a:t>penyisipan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data digital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Beberapa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/>
              <a:t>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penyisipan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metdoe</a:t>
            </a:r>
            <a:r>
              <a:rPr lang="en-US" dirty="0"/>
              <a:t> </a:t>
            </a:r>
            <a:r>
              <a:rPr lang="en-US" i="1" dirty="0" smtClean="0"/>
              <a:t>LSB </a:t>
            </a:r>
            <a:r>
              <a:rPr lang="en-US" dirty="0" smtClean="0"/>
              <a:t>(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steganografi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),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adaptif</a:t>
            </a:r>
            <a:r>
              <a:rPr lang="en-US" dirty="0"/>
              <a:t>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i="1" dirty="0" smtClean="0"/>
              <a:t>spread spectrum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sebagainya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93932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8077200" cy="4297363"/>
          </a:xfrm>
        </p:spPr>
        <p:txBody>
          <a:bodyPr>
            <a:noAutofit/>
          </a:bodyPr>
          <a:lstStyle/>
          <a:p>
            <a:r>
              <a:rPr lang="en-US" sz="2000" dirty="0"/>
              <a:t>Data </a:t>
            </a:r>
            <a:r>
              <a:rPr lang="en-US" sz="2000" i="1" dirty="0"/>
              <a:t>watermark </a:t>
            </a:r>
            <a:r>
              <a:rPr lang="en-US" sz="2000" dirty="0"/>
              <a:t>yang </a:t>
            </a:r>
            <a:r>
              <a:rPr lang="en-US" sz="2000" dirty="0" err="1"/>
              <a:t>lazim</a:t>
            </a:r>
            <a:r>
              <a:rPr lang="en-US" sz="2000" dirty="0"/>
              <a:t> </a:t>
            </a:r>
            <a:r>
              <a:rPr lang="en-US" sz="2000" dirty="0" err="1"/>
              <a:t>disisipkan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data digital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, </a:t>
            </a:r>
            <a:r>
              <a:rPr lang="en-US" sz="2000" dirty="0" err="1"/>
              <a:t>citra</a:t>
            </a:r>
            <a:r>
              <a:rPr lang="en-US" sz="2000" dirty="0" smtClean="0"/>
              <a:t>, </a:t>
            </a:r>
            <a:r>
              <a:rPr lang="en-US" sz="2000" dirty="0" err="1" smtClean="0"/>
              <a:t>atau</a:t>
            </a:r>
            <a:r>
              <a:rPr lang="en-US" sz="2000" dirty="0" smtClean="0"/>
              <a:t> </a:t>
            </a:r>
            <a:r>
              <a:rPr lang="en-US" sz="2000" dirty="0" err="1"/>
              <a:t>suara</a:t>
            </a:r>
            <a:r>
              <a:rPr lang="en-US" sz="2000" dirty="0"/>
              <a:t>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Watermark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</a:t>
            </a:r>
            <a:r>
              <a:rPr lang="en-US" sz="2000" dirty="0" err="1"/>
              <a:t>mengandung</a:t>
            </a:r>
            <a:r>
              <a:rPr lang="en-US" sz="2000" dirty="0"/>
              <a:t> </a:t>
            </a:r>
            <a:r>
              <a:rPr lang="en-US" sz="2000" dirty="0" err="1"/>
              <a:t>kelemahan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kesalahan</a:t>
            </a:r>
            <a:r>
              <a:rPr lang="en-US" sz="2000" dirty="0"/>
              <a:t> </a:t>
            </a:r>
            <a:r>
              <a:rPr lang="en-US" sz="2000" dirty="0" err="1" smtClean="0"/>
              <a:t>satu</a:t>
            </a:r>
            <a:r>
              <a:rPr lang="en-US" sz="2000" dirty="0" smtClean="0"/>
              <a:t> bit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yang </a:t>
            </a:r>
            <a:r>
              <a:rPr lang="en-US" sz="2000" dirty="0" err="1"/>
              <a:t>berbeda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verifikasi</a:t>
            </a:r>
            <a:r>
              <a:rPr lang="en-US" sz="2000" dirty="0"/>
              <a:t> (</a:t>
            </a:r>
            <a:r>
              <a:rPr lang="en-US" sz="2000" dirty="0" err="1"/>
              <a:t>ektraksi</a:t>
            </a:r>
            <a:r>
              <a:rPr lang="en-US" sz="2000" dirty="0" smtClean="0"/>
              <a:t>).</a:t>
            </a:r>
          </a:p>
          <a:p>
            <a:endParaRPr lang="en-US" sz="2000" dirty="0"/>
          </a:p>
          <a:p>
            <a:r>
              <a:rPr lang="en-US" sz="2000" i="1" dirty="0"/>
              <a:t>Watermark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suara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citra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disukai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kesalahan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 smtClean="0"/>
              <a:t>beberapa</a:t>
            </a:r>
            <a:r>
              <a:rPr lang="en-US" sz="2000" dirty="0" smtClean="0"/>
              <a:t> bit </a:t>
            </a:r>
            <a:r>
              <a:rPr lang="en-US" sz="2000" dirty="0"/>
              <a:t>watermark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perubahan</a:t>
            </a:r>
            <a:r>
              <a:rPr lang="en-US" sz="2000" dirty="0"/>
              <a:t> yang </a:t>
            </a:r>
            <a:r>
              <a:rPr lang="en-US" sz="2000" dirty="0" err="1"/>
              <a:t>berarti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verifikasi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ekstraksi</a:t>
            </a:r>
            <a:r>
              <a:rPr lang="en-US" sz="2000" dirty="0"/>
              <a:t> </a:t>
            </a:r>
            <a:r>
              <a:rPr lang="en-US" sz="2000" i="1" dirty="0"/>
              <a:t>watermark </a:t>
            </a:r>
            <a:r>
              <a:rPr lang="en-US" sz="2000" dirty="0"/>
              <a:t>yang </a:t>
            </a:r>
            <a:r>
              <a:rPr lang="en-US" sz="2000" dirty="0" err="1"/>
              <a:t>mengandung</a:t>
            </a:r>
            <a:r>
              <a:rPr lang="en-US" sz="2000" dirty="0"/>
              <a:t> </a:t>
            </a:r>
            <a:r>
              <a:rPr lang="en-US" sz="2000" dirty="0" err="1"/>
              <a:t>kesalahan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masih</a:t>
            </a:r>
            <a:r>
              <a:rPr lang="en-US" sz="2000" dirty="0"/>
              <a:t> </a:t>
            </a:r>
            <a:r>
              <a:rPr lang="en-US" sz="2000" dirty="0" err="1" smtClean="0"/>
              <a:t>dapat</a:t>
            </a:r>
            <a:r>
              <a:rPr lang="en-US" sz="2000" dirty="0" smtClean="0"/>
              <a:t> </a:t>
            </a:r>
            <a:r>
              <a:rPr lang="en-US" sz="2000" dirty="0" err="1" smtClean="0"/>
              <a:t>dipersepsi</a:t>
            </a:r>
            <a:r>
              <a:rPr lang="en-US" sz="2000" dirty="0" smtClean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visual (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pendengaran</a:t>
            </a:r>
            <a:r>
              <a:rPr lang="en-US" sz="2000" dirty="0"/>
              <a:t>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i="1" dirty="0"/>
              <a:t>watermark </a:t>
            </a:r>
            <a:r>
              <a:rPr lang="en-US" sz="2000" dirty="0"/>
              <a:t>-</a:t>
            </a:r>
            <a:r>
              <a:rPr lang="en-US" sz="2000" dirty="0" err="1"/>
              <a:t>nya</a:t>
            </a:r>
            <a:r>
              <a:rPr lang="en-US" sz="2000" dirty="0"/>
              <a:t> </a:t>
            </a:r>
            <a:r>
              <a:rPr lang="en-US" sz="2000" dirty="0" err="1" smtClean="0"/>
              <a:t>berupa</a:t>
            </a:r>
            <a:r>
              <a:rPr lang="en-US" sz="2000" dirty="0" smtClean="0"/>
              <a:t> </a:t>
            </a:r>
            <a:r>
              <a:rPr lang="en-US" sz="2000" dirty="0" err="1" smtClean="0"/>
              <a:t>suara</a:t>
            </a:r>
            <a:r>
              <a:rPr lang="en-US" sz="2000" dirty="0"/>
              <a:t>). </a:t>
            </a:r>
          </a:p>
          <a:p>
            <a:endParaRPr lang="en-US" sz="2000" dirty="0" smtClean="0"/>
          </a:p>
          <a:p>
            <a:r>
              <a:rPr lang="en-US" sz="2000" dirty="0" smtClean="0"/>
              <a:t>Citra </a:t>
            </a:r>
            <a:r>
              <a:rPr lang="en-US" sz="2000" dirty="0"/>
              <a:t>yang </a:t>
            </a:r>
            <a:r>
              <a:rPr lang="en-US" sz="2000" dirty="0" err="1"/>
              <a:t>sering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i="1" dirty="0"/>
              <a:t>watermark </a:t>
            </a:r>
            <a:r>
              <a:rPr lang="en-US" sz="2000" dirty="0" err="1"/>
              <a:t>biasanya</a:t>
            </a:r>
            <a:r>
              <a:rPr lang="en-US" sz="2000" dirty="0"/>
              <a:t> logo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lambang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38666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8077200" cy="1143000"/>
          </a:xfrm>
        </p:spPr>
        <p:txBody>
          <a:bodyPr/>
          <a:lstStyle/>
          <a:p>
            <a:r>
              <a:rPr lang="en-US" dirty="0" err="1" smtClean="0"/>
              <a:t>Penyisipan</a:t>
            </a:r>
            <a:r>
              <a:rPr lang="en-US" dirty="0" smtClean="0"/>
              <a:t> watermark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1"/>
            <a:ext cx="8077200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Proses </a:t>
            </a:r>
            <a:r>
              <a:rPr lang="en-US" dirty="0" err="1" smtClean="0"/>
              <a:t>penyisipan</a:t>
            </a:r>
            <a:r>
              <a:rPr lang="en-US" dirty="0" smtClean="0"/>
              <a:t> </a:t>
            </a:r>
            <a:r>
              <a:rPr lang="en-US" i="1" dirty="0" smtClean="0"/>
              <a:t>watermark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i="1" dirty="0"/>
              <a:t>encoding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 smtClean="0"/>
              <a:t>ditunjukkan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di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i="1" dirty="0"/>
              <a:t>Encoding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disertai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pemasukan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agar </a:t>
            </a:r>
            <a:r>
              <a:rPr lang="en-US" i="1" dirty="0"/>
              <a:t>watermark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diekstraksi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yang </a:t>
            </a:r>
            <a:r>
              <a:rPr lang="en-US" dirty="0" err="1"/>
              <a:t>sah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dimaksudkan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mencegah</a:t>
            </a:r>
            <a:r>
              <a:rPr lang="en-US" dirty="0"/>
              <a:t> watermark </a:t>
            </a:r>
            <a:r>
              <a:rPr lang="en-US" dirty="0" err="1"/>
              <a:t>dihapus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smtClean="0"/>
              <a:t>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/>
              <a:t>berhak</a:t>
            </a:r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4722059" cy="215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19099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Verifikasi</a:t>
            </a:r>
            <a:r>
              <a:rPr lang="en-US" dirty="0" smtClean="0"/>
              <a:t> watermark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Verifikasi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membuktikan</a:t>
            </a:r>
            <a:r>
              <a:rPr lang="en-US" dirty="0"/>
              <a:t> status </a:t>
            </a:r>
            <a:r>
              <a:rPr lang="en-US" dirty="0" err="1"/>
              <a:t>kepemilikan</a:t>
            </a:r>
            <a:r>
              <a:rPr lang="en-US" dirty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digital </a:t>
            </a:r>
            <a:r>
              <a:rPr lang="en-US" dirty="0"/>
              <a:t>yang </a:t>
            </a:r>
            <a:r>
              <a:rPr lang="en-US" dirty="0" err="1"/>
              <a:t>disengketakan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err="1" smtClean="0"/>
              <a:t>Verifikasi</a:t>
            </a:r>
            <a:r>
              <a:rPr lang="en-US" dirty="0" smtClean="0"/>
              <a:t> </a:t>
            </a:r>
            <a:r>
              <a:rPr lang="en-US" i="1" dirty="0"/>
              <a:t>watermark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sub-proses</a:t>
            </a:r>
            <a:r>
              <a:rPr lang="en-US" dirty="0" smtClean="0"/>
              <a:t>,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/>
              <a:t>ekstraksi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pembandingan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Sub-proses </a:t>
            </a:r>
            <a:r>
              <a:rPr lang="en-US" dirty="0" err="1"/>
              <a:t>ekstraksi</a:t>
            </a:r>
            <a:r>
              <a:rPr lang="en-US" dirty="0"/>
              <a:t> </a:t>
            </a:r>
            <a:r>
              <a:rPr lang="en-US" i="1" dirty="0" smtClean="0"/>
              <a:t>watermark </a:t>
            </a:r>
            <a:r>
              <a:rPr lang="en-US" dirty="0" err="1" smtClean="0"/>
              <a:t>disebut</a:t>
            </a:r>
            <a:r>
              <a:rPr lang="en-US" dirty="0" smtClean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i="1" dirty="0"/>
              <a:t>decoding</a:t>
            </a:r>
            <a:r>
              <a:rPr lang="en-US" dirty="0"/>
              <a:t>,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mengungkap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i="1" dirty="0"/>
              <a:t>Decoding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mengikutsertakan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(yang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i="1" dirty="0"/>
              <a:t>watermark</a:t>
            </a:r>
            <a:r>
              <a:rPr lang="en-US" dirty="0"/>
              <a:t>) </a:t>
            </a:r>
            <a:r>
              <a:rPr lang="en-US" dirty="0" err="1" smtClean="0"/>
              <a:t>atau</a:t>
            </a:r>
            <a:r>
              <a:rPr lang="en-US" dirty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</a:t>
            </a:r>
            <a:r>
              <a:rPr lang="en-US" i="1" dirty="0"/>
              <a:t>watermarking </a:t>
            </a:r>
            <a:r>
              <a:rPr lang="en-US" dirty="0" err="1"/>
              <a:t>memang</a:t>
            </a:r>
            <a:r>
              <a:rPr lang="en-US" dirty="0"/>
              <a:t> </a:t>
            </a:r>
            <a:r>
              <a:rPr lang="en-US" dirty="0" err="1" smtClean="0"/>
              <a:t>menggunakan</a:t>
            </a:r>
            <a:r>
              <a:rPr lang="en-US" dirty="0"/>
              <a:t> </a:t>
            </a:r>
            <a:r>
              <a:rPr lang="en-US" dirty="0" err="1" smtClean="0"/>
              <a:t>citra</a:t>
            </a:r>
            <a:r>
              <a:rPr lang="en-US" dirty="0" smtClean="0"/>
              <a:t>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proses </a:t>
            </a:r>
            <a:r>
              <a:rPr lang="en-US" i="1" dirty="0"/>
              <a:t>decoding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unjuk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972050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7200"/>
            <a:ext cx="8077200" cy="4297363"/>
          </a:xfrm>
        </p:spPr>
        <p:txBody>
          <a:bodyPr/>
          <a:lstStyle/>
          <a:p>
            <a:r>
              <a:rPr lang="en-US" dirty="0"/>
              <a:t>Sub-proses </a:t>
            </a:r>
            <a:r>
              <a:rPr lang="en-US" dirty="0" err="1"/>
              <a:t>pembandingan</a:t>
            </a:r>
            <a:r>
              <a:rPr lang="en-US" dirty="0"/>
              <a:t>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/>
              <a:t>yang </a:t>
            </a:r>
            <a:r>
              <a:rPr lang="en-US" dirty="0" err="1"/>
              <a:t>diungkap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asli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tersebut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Proses </a:t>
            </a:r>
            <a:r>
              <a:rPr lang="en-US" dirty="0" err="1"/>
              <a:t>verifikasi</a:t>
            </a:r>
            <a:r>
              <a:rPr lang="en-US" dirty="0"/>
              <a:t> </a:t>
            </a:r>
            <a:r>
              <a:rPr lang="en-US" i="1" dirty="0"/>
              <a:t>watermark </a:t>
            </a:r>
            <a:r>
              <a:rPr lang="en-US" dirty="0" err="1"/>
              <a:t>ditunjukkan</a:t>
            </a:r>
            <a:r>
              <a:rPr lang="en-US" dirty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733800"/>
            <a:ext cx="654367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082698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pelabelan</a:t>
            </a:r>
            <a:r>
              <a:rPr lang="en-US" dirty="0" smtClean="0"/>
              <a:t> </a:t>
            </a:r>
            <a:r>
              <a:rPr lang="en-US" dirty="0" err="1" smtClean="0"/>
              <a:t>hak</a:t>
            </a:r>
            <a:r>
              <a:rPr lang="en-US" dirty="0" smtClean="0"/>
              <a:t> </a:t>
            </a:r>
            <a:r>
              <a:rPr lang="en-US" dirty="0" err="1" smtClean="0"/>
              <a:t>cipta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1"/>
            <a:ext cx="8077200" cy="5105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pelabelan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cipta</a:t>
            </a:r>
            <a:r>
              <a:rPr lang="en-US" dirty="0"/>
              <a:t> (</a:t>
            </a:r>
            <a:r>
              <a:rPr lang="en-US" i="1" dirty="0"/>
              <a:t>copyright labelling</a:t>
            </a:r>
            <a:r>
              <a:rPr lang="en-US" dirty="0"/>
              <a:t>), </a:t>
            </a:r>
            <a:r>
              <a:rPr lang="en-US" i="1" dirty="0"/>
              <a:t>watermarking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fi-FI" dirty="0" smtClean="0"/>
              <a:t>dimanfaatkan </a:t>
            </a:r>
            <a:r>
              <a:rPr lang="fi-FI" dirty="0"/>
              <a:t>untuk tujuan-tujuan lain sebagai </a:t>
            </a:r>
            <a:r>
              <a:rPr lang="fi-FI" dirty="0" smtClean="0"/>
              <a:t>berikut: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en-US" i="1" dirty="0" smtClean="0"/>
              <a:t>1. Tamper-proofing</a:t>
            </a:r>
            <a:r>
              <a:rPr lang="en-US" dirty="0"/>
              <a:t>. </a:t>
            </a:r>
            <a:r>
              <a:rPr lang="en-US" i="1" dirty="0"/>
              <a:t>Watermarking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 smtClean="0"/>
              <a:t>mengidentifikasi</a:t>
            </a:r>
            <a:r>
              <a:rPr lang="en-US" dirty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data digital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mengalami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aslinya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i="1" dirty="0"/>
              <a:t>Feature location</a:t>
            </a:r>
            <a:r>
              <a:rPr lang="en-US" dirty="0"/>
              <a:t>. </a:t>
            </a:r>
            <a:r>
              <a:rPr lang="en-US" i="1" dirty="0"/>
              <a:t>Watermarking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 smtClean="0"/>
              <a:t>dari</a:t>
            </a:r>
            <a:r>
              <a:rPr lang="en-US" dirty="0"/>
              <a:t> </a:t>
            </a:r>
            <a:r>
              <a:rPr lang="en-US" dirty="0" smtClean="0"/>
              <a:t>data </a:t>
            </a:r>
            <a:r>
              <a:rPr lang="en-US" dirty="0"/>
              <a:t>digital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lokai-lokasi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i="1" dirty="0"/>
              <a:t>Annotation/caption</a:t>
            </a:r>
            <a:r>
              <a:rPr lang="en-US" dirty="0"/>
              <a:t>. </a:t>
            </a:r>
            <a:r>
              <a:rPr lang="en-US" i="1" dirty="0"/>
              <a:t>Watermarking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 smtClean="0"/>
              <a:t>tentang</a:t>
            </a:r>
            <a:r>
              <a:rPr lang="en-US" dirty="0"/>
              <a:t> </a:t>
            </a:r>
            <a:r>
              <a:rPr lang="en-US" dirty="0" smtClean="0"/>
              <a:t>data </a:t>
            </a:r>
            <a:r>
              <a:rPr lang="en-US" dirty="0"/>
              <a:t>digital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56175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24200" y="2209800"/>
            <a:ext cx="4168665" cy="280022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6000" dirty="0" err="1" smtClean="0"/>
              <a:t>Diskusi</a:t>
            </a:r>
            <a:r>
              <a:rPr lang="en-US" sz="6000" dirty="0" smtClean="0"/>
              <a:t> :</a:t>
            </a:r>
            <a:br>
              <a:rPr lang="en-US" sz="6000" dirty="0" smtClean="0"/>
            </a:br>
            <a:r>
              <a:rPr lang="en-US" sz="6000" dirty="0" err="1" smtClean="0"/>
              <a:t>Pertanyaan</a:t>
            </a:r>
            <a:r>
              <a:rPr lang="en-US" sz="6000" dirty="0" smtClean="0"/>
              <a:t>?</a:t>
            </a:r>
            <a:endParaRPr lang="en-US" sz="6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0753331" flipH="1">
            <a:off x="108261" y="-3142205"/>
            <a:ext cx="2895600" cy="686108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QUq8QELArFIgadhH063fp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nkrlxYPS4jAzciXk8ToA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tnMj4SFfqbVIhVK0Rf83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4989757ECDC4449AC8CEC11F1765F1" ma:contentTypeVersion="4" ma:contentTypeDescription="Create a new document." ma:contentTypeScope="" ma:versionID="3c25f63edc3fd3c6a2f950330b21be65">
  <xsd:schema xmlns:xsd="http://www.w3.org/2001/XMLSchema" xmlns:xs="http://www.w3.org/2001/XMLSchema" xmlns:p="http://schemas.microsoft.com/office/2006/metadata/properties" xmlns:ns2="854b0d3e-a311-4135-8264-440dcf601c8b" targetNamespace="http://schemas.microsoft.com/office/2006/metadata/properties" ma:root="true" ma:fieldsID="bdee0a4f81c0337f2658552466da8178" ns2:_="">
    <xsd:import namespace="854b0d3e-a311-4135-8264-440dcf601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4b0d3e-a311-4135-8264-440dcf601c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28FCB2-78C3-4C4E-B5D3-0B8928BD2810}"/>
</file>

<file path=customXml/itemProps2.xml><?xml version="1.0" encoding="utf-8"?>
<ds:datastoreItem xmlns:ds="http://schemas.openxmlformats.org/officeDocument/2006/customXml" ds:itemID="{E8894CC0-F50B-42D0-8CC5-6CCC631DE8F1}"/>
</file>

<file path=customXml/itemProps3.xml><?xml version="1.0" encoding="utf-8"?>
<ds:datastoreItem xmlns:ds="http://schemas.openxmlformats.org/officeDocument/2006/customXml" ds:itemID="{9BA86E42-A7EA-4595-8A98-8F3892C77D34}"/>
</file>

<file path=docProps/app.xml><?xml version="1.0" encoding="utf-8"?>
<Properties xmlns="http://schemas.openxmlformats.org/officeDocument/2006/extended-properties" xmlns:vt="http://schemas.openxmlformats.org/officeDocument/2006/docPropsVTypes">
  <Template>Training</Template>
  <TotalTime>0</TotalTime>
  <Words>2442</Words>
  <Application>Microsoft Office PowerPoint</Application>
  <PresentationFormat>On-screen Show (4:3)</PresentationFormat>
  <Paragraphs>239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Georgia</vt:lpstr>
      <vt:lpstr>Training</vt:lpstr>
      <vt:lpstr>STEGANOGRAFI DAN WATERMARKING</vt:lpstr>
      <vt:lpstr>Perkuliahan hari ini</vt:lpstr>
      <vt:lpstr>Pendahuluan</vt:lpstr>
      <vt:lpstr>PowerPoint Presentation</vt:lpstr>
      <vt:lpstr>PowerPoint Presentation</vt:lpstr>
      <vt:lpstr>Kriteria Steganografi Yang Bagus</vt:lpstr>
      <vt:lpstr>Teknik Penyembunyian Data</vt:lpstr>
      <vt:lpstr>Metode modifikasi LSB untuk watermark pada citra digital</vt:lpstr>
      <vt:lpstr>PowerPoint Presentation</vt:lpstr>
      <vt:lpstr>Pembangkitan bilangan acak</vt:lpstr>
      <vt:lpstr>Steganografi Citra Digital 8 bit</vt:lpstr>
      <vt:lpstr>Teknik Penggantian Bit pada Citra bukan 24-bit</vt:lpstr>
      <vt:lpstr>Teknik Penggantian Bit pada Citra 24-bit </vt:lpstr>
      <vt:lpstr>PowerPoint Presentation</vt:lpstr>
      <vt:lpstr>Perubahan warna</vt:lpstr>
      <vt:lpstr>PowerPoint Presentation</vt:lpstr>
      <vt:lpstr>Algoritma Diversity </vt:lpstr>
      <vt:lpstr>PowerPoint Presentation</vt:lpstr>
      <vt:lpstr>Ukuran Data</vt:lpstr>
      <vt:lpstr>Pengungkapan Data</vt:lpstr>
      <vt:lpstr>PowerPoint Presentation</vt:lpstr>
      <vt:lpstr>Pendahuluan</vt:lpstr>
      <vt:lpstr>PowerPoint Presentation</vt:lpstr>
      <vt:lpstr>Watermarking</vt:lpstr>
      <vt:lpstr>Perbedaan dengan Steganografi</vt:lpstr>
      <vt:lpstr>PowerPoint Presentation</vt:lpstr>
      <vt:lpstr>Penyisipan watermark</vt:lpstr>
      <vt:lpstr>Verifikasi watermark</vt:lpstr>
      <vt:lpstr>PowerPoint Presentation</vt:lpstr>
      <vt:lpstr>Tujuan pelabelan hak cipta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Wikky Fawwaz Al Maki</dc:creator>
  <cp:lastModifiedBy/>
  <cp:revision>1</cp:revision>
  <dcterms:created xsi:type="dcterms:W3CDTF">2014-09-17T09:53:20Z</dcterms:created>
  <dcterms:modified xsi:type="dcterms:W3CDTF">2021-09-13T09:13:25Z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TC016745579991</vt:lpwstr>
  </property>
  <property fmtid="{D5CDD505-2E9C-101B-9397-08002B2CF9AE}" pid="3" name="ContentTypeId">
    <vt:lpwstr>0x010100564989757ECDC4449AC8CEC11F1765F1</vt:lpwstr>
  </property>
</Properties>
</file>